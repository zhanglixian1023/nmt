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2"/>
  </p:handoutMasterIdLst>
  <p:sldIdLst>
    <p:sldId id="4524" r:id="rId3"/>
    <p:sldId id="4539" r:id="rId5"/>
    <p:sldId id="4543" r:id="rId6"/>
    <p:sldId id="4541" r:id="rId7"/>
    <p:sldId id="4545" r:id="rId8"/>
    <p:sldId id="4542" r:id="rId9"/>
    <p:sldId id="4546" r:id="rId10"/>
    <p:sldId id="4498" r:id="rId11"/>
    <p:sldId id="4548" r:id="rId12"/>
    <p:sldId id="4549" r:id="rId13"/>
    <p:sldId id="4550" r:id="rId14"/>
    <p:sldId id="4551" r:id="rId15"/>
    <p:sldId id="4552" r:id="rId16"/>
    <p:sldId id="4556" r:id="rId17"/>
    <p:sldId id="4555" r:id="rId18"/>
    <p:sldId id="4538" r:id="rId19"/>
    <p:sldId id="4553" r:id="rId20"/>
    <p:sldId id="4554" r:id="rId21"/>
  </p:sldIdLst>
  <p:sldSz cx="20105370" cy="11309350"/>
  <p:notesSz cx="20104100" cy="11309350"/>
  <p:defaultTextStyle>
    <a:defPPr>
      <a:defRPr kern="0"/>
    </a:defPPr>
  </p:defaultTextStyle>
  <p:extLst>
    <p:ext uri="{EFAFB233-063F-42B5-8137-9DF3F51BA10A}">
      <p15:sldGuideLst xmlns:p15="http://schemas.microsoft.com/office/powerpoint/2012/main">
        <p15:guide id="1" orient="horz" pos="286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A31F34"/>
    <a:srgbClr val="000000"/>
    <a:srgbClr val="CC00CC"/>
    <a:srgbClr val="EFEFFE"/>
    <a:srgbClr val="FF66CC"/>
    <a:srgbClr val="DDBC28"/>
    <a:srgbClr val="376092"/>
    <a:srgbClr val="027DAD"/>
    <a:srgbClr val="005D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7"/>
    <p:restoredTop sz="85904" autoAdjust="0"/>
  </p:normalViewPr>
  <p:slideViewPr>
    <p:cSldViewPr showGuides="1">
      <p:cViewPr varScale="1">
        <p:scale>
          <a:sx n="64" d="100"/>
          <a:sy n="64" d="100"/>
        </p:scale>
        <p:origin x="811" y="82"/>
      </p:cViewPr>
      <p:guideLst>
        <p:guide orient="horz" pos="2866"/>
        <p:guide pos="2160"/>
      </p:guideLst>
    </p:cSldViewPr>
  </p:slideViewPr>
  <p:notesTextViewPr>
    <p:cViewPr>
      <p:scale>
        <a:sx n="3" d="2"/>
        <a:sy n="3" d="2"/>
      </p:scale>
      <p:origin x="0" y="0"/>
    </p:cViewPr>
  </p:notesTextViewPr>
  <p:notesViewPr>
    <p:cSldViewPr>
      <p:cViewPr varScale="1">
        <p:scale>
          <a:sx n="74" d="100"/>
          <a:sy n="74" d="100"/>
        </p:scale>
        <p:origin x="1328" y="176"/>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CC247CB6-0225-EE4B-94F8-678E887FEE40}" type="datetimeFigureOut">
              <a:rPr kumimoji="1" lang="zh-CN" altLang="en-US" smtClean="0"/>
            </a:fld>
            <a:endParaRPr kumimoji="1" lang="zh-CN" altLang="en-US"/>
          </a:p>
        </p:txBody>
      </p:sp>
      <p:sp>
        <p:nvSpPr>
          <p:cNvPr id="4" name="页脚占位符 3"/>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7D472F16-1517-1A4C-982B-0956F8669B7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B020AE38-7A63-DF40-B885-651C75E12B3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4CB34903-EDE3-934A-BA3B-78B879A8EC1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Holder 2"/>
          <p:cNvSpPr>
            <a:spLocks noGrp="1"/>
          </p:cNvSpPr>
          <p:nvPr>
            <p:ph type="title" hasCustomPrompt="1"/>
          </p:nvPr>
        </p:nvSpPr>
        <p:spPr>
          <a:xfrm>
            <a:off x="451644" y="405428"/>
            <a:ext cx="15374564" cy="1077346"/>
          </a:xfrm>
        </p:spPr>
        <p:txBody>
          <a:bodyPr lIns="0" tIns="0" rIns="0" bIns="0"/>
          <a:lstStyle>
            <a:lvl1pPr>
              <a:defRPr sz="7000" b="0" i="0">
                <a:solidFill>
                  <a:schemeClr val="tx1"/>
                </a:solidFill>
                <a:latin typeface="Georgia" panose="02040502050405020303" pitchFamily="18" charset="0"/>
                <a:ea typeface="微软雅黑" panose="020B0503020204020204" pitchFamily="34" charset="-122"/>
                <a:cs typeface="Times New Roman" panose="02020603050405020304" pitchFamily="18" charset="0"/>
              </a:defRPr>
            </a:lvl1pPr>
          </a:lstStyle>
          <a:p>
            <a:r>
              <a:rPr lang="en-US" altLang="zh-CN" dirty="0"/>
              <a:t>XXX</a:t>
            </a:r>
            <a:endParaRPr dirty="0"/>
          </a:p>
        </p:txBody>
      </p:sp>
      <p:sp>
        <p:nvSpPr>
          <p:cNvPr id="9" name="Holder 7"/>
          <p:cNvSpPr>
            <a:spLocks noGrp="1"/>
          </p:cNvSpPr>
          <p:nvPr>
            <p:ph type="sldNum" sz="quarter" idx="7"/>
          </p:nvPr>
        </p:nvSpPr>
        <p:spPr>
          <a:xfrm>
            <a:off x="19247031" y="10764793"/>
            <a:ext cx="407013" cy="300082"/>
          </a:xfrm>
          <a:prstGeom prst="rect">
            <a:avLst/>
          </a:prstGeom>
        </p:spPr>
        <p:txBody>
          <a:bodyPr lIns="0" tIns="0" rIns="0" bIns="0"/>
          <a:lstStyle>
            <a:lvl1pPr>
              <a:defRPr sz="1950" b="0" i="0">
                <a:solidFill>
                  <a:schemeClr val="bg1">
                    <a:lumMod val="65000"/>
                  </a:schemeClr>
                </a:solidFill>
                <a:latin typeface="Arial" panose="020B0604020202020204"/>
                <a:cs typeface="Arial" panose="020B0604020202020204"/>
              </a:defRPr>
            </a:lvl1pPr>
          </a:lstStyle>
          <a:p>
            <a:pPr marL="38100">
              <a:spcBef>
                <a:spcPts val="30"/>
              </a:spcBef>
            </a:pPr>
            <a:fld id="{81D60167-4931-47E6-BA6A-407CBD079E47}" type="slidenum">
              <a:rPr lang="en-US" altLang="zh-CN" spc="-51" smtClean="0"/>
            </a:fld>
            <a:endParaRPr lang="en-US" altLang="zh-CN" spc="-51" dirty="0"/>
          </a:p>
        </p:txBody>
      </p:sp>
      <p:sp>
        <p:nvSpPr>
          <p:cNvPr id="3" name="Content Placeholder 2"/>
          <p:cNvSpPr>
            <a:spLocks noGrp="1"/>
          </p:cNvSpPr>
          <p:nvPr>
            <p:ph idx="1" hasCustomPrompt="1"/>
          </p:nvPr>
        </p:nvSpPr>
        <p:spPr>
          <a:xfrm>
            <a:off x="1212850" y="2454275"/>
            <a:ext cx="17754600" cy="7315200"/>
          </a:xfrm>
          <a:prstGeom prst="rect">
            <a:avLst/>
          </a:prstGeom>
        </p:spPr>
        <p:txBody>
          <a:bodyPr>
            <a:normAutofit/>
          </a:bodyPr>
          <a:lstStyle>
            <a:lvl1pPr marL="360045" indent="-360045" defTabSz="1080135">
              <a:lnSpc>
                <a:spcPct val="140000"/>
              </a:lnSpc>
              <a:spcBef>
                <a:spcPts val="900"/>
              </a:spcBef>
              <a:spcAft>
                <a:spcPts val="600"/>
              </a:spcAft>
              <a:buClr>
                <a:srgbClr val="CC3300"/>
              </a:buClr>
              <a:buFont typeface="Wingdings" panose="05000000000000000000" pitchFamily="2" charset="2"/>
              <a:buChar char="q"/>
              <a:defRPr sz="4400" spc="0" baseline="0">
                <a:latin typeface="Georgia" panose="02040502050405020303" pitchFamily="18" charset="0"/>
                <a:ea typeface="微软雅黑" panose="020B0503020204020204" pitchFamily="34" charset="-122"/>
                <a:cs typeface="Arial" panose="020B0604020202020204" pitchFamily="34" charset="0"/>
              </a:defRPr>
            </a:lvl1pPr>
            <a:lvl2pPr marL="1007745" indent="-288290">
              <a:lnSpc>
                <a:spcPct val="140000"/>
              </a:lnSpc>
              <a:spcBef>
                <a:spcPts val="900"/>
              </a:spcBef>
              <a:spcAft>
                <a:spcPts val="600"/>
              </a:spcAft>
              <a:buClr>
                <a:srgbClr val="CC3300"/>
              </a:buClr>
              <a:buFont typeface="Wingdings" panose="05000000000000000000" pitchFamily="2" charset="2"/>
              <a:buChar char="n"/>
              <a:defRPr sz="4000" spc="0" baseline="0">
                <a:latin typeface="Georgia" panose="02040502050405020303" pitchFamily="18" charset="0"/>
                <a:ea typeface="微软雅黑" panose="020B0503020204020204" pitchFamily="34" charset="-122"/>
                <a:cs typeface="Arial" panose="020B0604020202020204" pitchFamily="34" charset="0"/>
              </a:defRPr>
            </a:lvl2pPr>
            <a:lvl3pPr marL="1619885" marR="0" indent="-252095" algn="l" defTabSz="821055" rtl="0" eaLnBrk="1" fontAlgn="auto" latinLnBrk="0" hangingPunct="1">
              <a:lnSpc>
                <a:spcPct val="140000"/>
              </a:lnSpc>
              <a:spcBef>
                <a:spcPts val="900"/>
              </a:spcBef>
              <a:spcAft>
                <a:spcPts val="600"/>
              </a:spcAft>
              <a:buClr>
                <a:srgbClr val="CC3300"/>
              </a:buClr>
              <a:buSzTx/>
              <a:buFont typeface="Arial" panose="020B0604020202020204" pitchFamily="34" charset="0"/>
              <a:buChar char="•"/>
              <a:defRPr sz="3600" spc="-30" baseline="0">
                <a:latin typeface="Georgia" panose="02040502050405020303" pitchFamily="18" charset="0"/>
                <a:ea typeface="楷体" panose="02010609060101010101" pitchFamily="49" charset="-122"/>
                <a:cs typeface="Arial" panose="020B0604020202020204" pitchFamily="34" charset="0"/>
              </a:defRPr>
            </a:lvl3pPr>
            <a:lvl4pPr>
              <a:defRPr sz="2800" spc="-30" baseline="0">
                <a:latin typeface="Century" panose="02040604050505020304" pitchFamily="18" charset="0"/>
                <a:cs typeface="Arial" panose="020B0604020202020204" pitchFamily="34" charset="0"/>
              </a:defRPr>
            </a:lvl4pPr>
            <a:lvl5pPr>
              <a:defRPr sz="2800" spc="-30" baseline="0">
                <a:latin typeface="Century" panose="02040604050505020304" pitchFamily="18" charset="0"/>
                <a:cs typeface="Arial" panose="020B0604020202020204" pitchFamily="34" charset="0"/>
              </a:defRPr>
            </a:lvl5pPr>
          </a:lstStyle>
          <a:p>
            <a:pPr lvl="0"/>
            <a:r>
              <a:rPr lang="zh-CN" altLang="en-US" dirty="0"/>
              <a:t> 编辑母版文本样式</a:t>
            </a:r>
            <a:endParaRPr lang="zh-CN" altLang="en-US" dirty="0"/>
          </a:p>
          <a:p>
            <a:pPr lvl="1"/>
            <a:r>
              <a:rPr lang="zh-CN" altLang="en-US" dirty="0"/>
              <a:t> 第二级</a:t>
            </a:r>
            <a:endParaRPr lang="en-US" altLang="zh-CN" dirty="0"/>
          </a:p>
          <a:p>
            <a:pPr lvl="2"/>
            <a:r>
              <a:rPr lang="zh-CN" altLang="en-US" dirty="0"/>
              <a:t>第三级</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1644" y="355679"/>
            <a:ext cx="15374564" cy="1107996"/>
          </a:xfrm>
        </p:spPr>
        <p:txBody>
          <a:bodyPr/>
          <a:lstStyle>
            <a:lvl1pPr>
              <a:defRPr sz="7200" b="0">
                <a:solidFill>
                  <a:schemeClr val="tx1"/>
                </a:solidFill>
                <a:latin typeface="Georgia" panose="02040502050405020303" pitchFamily="18" charset="0"/>
                <a:cs typeface="Times New Roman" panose="02020603050405020304" pitchFamily="18" charset="0"/>
              </a:defRPr>
            </a:lvl1pPr>
          </a:lstStyle>
          <a:p>
            <a:r>
              <a:rPr kumimoji="1" lang="en-US" altLang="zh-CN" dirty="0"/>
              <a:t>XXXXXXXX</a:t>
            </a:r>
            <a:endParaRPr kumimoji="1" lang="zh-CN" altLang="en-US" dirty="0"/>
          </a:p>
        </p:txBody>
      </p:sp>
      <p:sp>
        <p:nvSpPr>
          <p:cNvPr id="11" name="矩形 10"/>
          <p:cNvSpPr/>
          <p:nvPr userDrawn="1"/>
        </p:nvSpPr>
        <p:spPr>
          <a:xfrm>
            <a:off x="0" y="10683875"/>
            <a:ext cx="20105688"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Holder 7"/>
          <p:cNvSpPr>
            <a:spLocks noGrp="1"/>
          </p:cNvSpPr>
          <p:nvPr>
            <p:ph type="sldNum" sz="quarter" idx="7"/>
          </p:nvPr>
        </p:nvSpPr>
        <p:spPr>
          <a:xfrm>
            <a:off x="19247031" y="10764793"/>
            <a:ext cx="407013" cy="300082"/>
          </a:xfrm>
          <a:prstGeom prst="rect">
            <a:avLst/>
          </a:prstGeom>
        </p:spPr>
        <p:txBody>
          <a:bodyPr lIns="0" tIns="0" rIns="0" bIns="0"/>
          <a:lstStyle>
            <a:lvl1pPr>
              <a:defRPr sz="1950" b="0" i="0">
                <a:solidFill>
                  <a:schemeClr val="bg1">
                    <a:lumMod val="65000"/>
                  </a:schemeClr>
                </a:solidFill>
                <a:latin typeface="Arial" panose="020B0604020202020204"/>
                <a:cs typeface="Arial" panose="020B0604020202020204"/>
              </a:defRPr>
            </a:lvl1pPr>
          </a:lstStyle>
          <a:p>
            <a:pPr marL="38100">
              <a:spcBef>
                <a:spcPts val="30"/>
              </a:spcBef>
            </a:pPr>
            <a:fld id="{81D60167-4931-47E6-BA6A-407CBD079E47}" type="slidenum">
              <a:rPr lang="en-US" altLang="zh-CN" spc="-51" smtClean="0"/>
            </a:fld>
            <a:endParaRPr lang="en-US" altLang="zh-CN" spc="-51" dirty="0"/>
          </a:p>
        </p:txBody>
      </p:sp>
      <p:sp>
        <p:nvSpPr>
          <p:cNvPr id="14" name="矩形 13"/>
          <p:cNvSpPr/>
          <p:nvPr userDrawn="1"/>
        </p:nvSpPr>
        <p:spPr>
          <a:xfrm>
            <a:off x="0" y="320675"/>
            <a:ext cx="299244" cy="1173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bg object 17"/>
          <p:cNvSpPr/>
          <p:nvPr userDrawn="1"/>
        </p:nvSpPr>
        <p:spPr>
          <a:xfrm>
            <a:off x="-1703" y="381391"/>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
        <p:nvSpPr>
          <p:cNvPr id="5" name="Content Placeholder 2"/>
          <p:cNvSpPr>
            <a:spLocks noGrp="1"/>
          </p:cNvSpPr>
          <p:nvPr>
            <p:ph idx="1" hasCustomPrompt="1"/>
          </p:nvPr>
        </p:nvSpPr>
        <p:spPr>
          <a:xfrm>
            <a:off x="1212850" y="2454275"/>
            <a:ext cx="17754600" cy="7315200"/>
          </a:xfrm>
          <a:prstGeom prst="rect">
            <a:avLst/>
          </a:prstGeom>
        </p:spPr>
        <p:txBody>
          <a:bodyPr>
            <a:normAutofit/>
          </a:bodyPr>
          <a:lstStyle>
            <a:lvl1pPr marL="360045" indent="-360045" defTabSz="1080135">
              <a:lnSpc>
                <a:spcPct val="114000"/>
              </a:lnSpc>
              <a:spcBef>
                <a:spcPts val="900"/>
              </a:spcBef>
              <a:spcAft>
                <a:spcPts val="600"/>
              </a:spcAft>
              <a:buClr>
                <a:srgbClr val="CC3300"/>
              </a:buClr>
              <a:buFont typeface="Wingdings" panose="05000000000000000000" pitchFamily="2" charset="2"/>
              <a:buChar char="q"/>
              <a:defRPr sz="4400" spc="0" baseline="0">
                <a:latin typeface="Georgia" panose="02040502050405020303" pitchFamily="18" charset="0"/>
                <a:ea typeface="微软雅黑" panose="020B0503020204020204" pitchFamily="34" charset="-122"/>
                <a:cs typeface="Arial" panose="020B0604020202020204" pitchFamily="34" charset="0"/>
              </a:defRPr>
            </a:lvl1pPr>
            <a:lvl2pPr marL="1007745" indent="-288290">
              <a:lnSpc>
                <a:spcPct val="114000"/>
              </a:lnSpc>
              <a:spcBef>
                <a:spcPts val="600"/>
              </a:spcBef>
              <a:spcAft>
                <a:spcPts val="600"/>
              </a:spcAft>
              <a:buClr>
                <a:srgbClr val="CC3300"/>
              </a:buClr>
              <a:buFont typeface="Wingdings" panose="05000000000000000000" pitchFamily="2" charset="2"/>
              <a:buChar char="n"/>
              <a:defRPr sz="4000" spc="0" baseline="0">
                <a:latin typeface="Georgia" panose="02040502050405020303" pitchFamily="18" charset="0"/>
                <a:ea typeface="微软雅黑" panose="020B0503020204020204" pitchFamily="34" charset="-122"/>
                <a:cs typeface="Arial" panose="020B0604020202020204" pitchFamily="34" charset="0"/>
              </a:defRPr>
            </a:lvl2pPr>
            <a:lvl3pPr marL="1619885" marR="0" indent="-252095" algn="l" defTabSz="821055" rtl="0" eaLnBrk="1" fontAlgn="auto" latinLnBrk="0" hangingPunct="1">
              <a:lnSpc>
                <a:spcPct val="114000"/>
              </a:lnSpc>
              <a:spcBef>
                <a:spcPts val="900"/>
              </a:spcBef>
              <a:spcAft>
                <a:spcPts val="600"/>
              </a:spcAft>
              <a:buClr>
                <a:srgbClr val="CC3300"/>
              </a:buClr>
              <a:buSzTx/>
              <a:buFont typeface="Arial" panose="020B0604020202020204" pitchFamily="34" charset="0"/>
              <a:buChar char="•"/>
              <a:defRPr sz="3600" spc="-30" baseline="0">
                <a:latin typeface="Georgia" panose="02040502050405020303" pitchFamily="18" charset="0"/>
                <a:ea typeface="楷体" panose="02010609060101010101" pitchFamily="49" charset="-122"/>
                <a:cs typeface="Arial" panose="020B0604020202020204" pitchFamily="34" charset="0"/>
              </a:defRPr>
            </a:lvl3pPr>
            <a:lvl4pPr>
              <a:defRPr sz="2800" spc="-30" baseline="0">
                <a:latin typeface="Century" panose="02040604050505020304" pitchFamily="18" charset="0"/>
                <a:cs typeface="Arial" panose="020B0604020202020204" pitchFamily="34" charset="0"/>
              </a:defRPr>
            </a:lvl4pPr>
            <a:lvl5pPr>
              <a:defRPr sz="2800" spc="-30" baseline="0">
                <a:latin typeface="Century" panose="02040604050505020304" pitchFamily="18" charset="0"/>
                <a:cs typeface="Arial" panose="020B0604020202020204" pitchFamily="34" charset="0"/>
              </a:defRPr>
            </a:lvl5pPr>
          </a:lstStyle>
          <a:p>
            <a:pPr lvl="0"/>
            <a:r>
              <a:rPr lang="zh-CN" altLang="en-US" dirty="0"/>
              <a:t> 编辑母版文本样式</a:t>
            </a:r>
            <a:endParaRPr lang="zh-CN" altLang="en-US" dirty="0"/>
          </a:p>
          <a:p>
            <a:pPr lvl="1"/>
            <a:r>
              <a:rPr lang="zh-CN" altLang="en-US" dirty="0"/>
              <a:t> 第二级</a:t>
            </a:r>
            <a:endParaRPr lang="en-US" altLang="zh-CN" dirty="0"/>
          </a:p>
          <a:p>
            <a:pPr lvl="2"/>
            <a:r>
              <a:rPr lang="zh-CN" altLang="en-US" dirty="0"/>
              <a:t>第三级</a:t>
            </a:r>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Title and Content">
    <p:bg>
      <p:bgPr>
        <a:solidFill>
          <a:schemeClr val="bg1"/>
        </a:solidFill>
        <a:effectLst/>
      </p:bgPr>
    </p:bg>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kumimoji="1" lang="zh-CN" altLang="en-US" dirty="0"/>
              <a:t>单击此处编辑母版标题样式</a:t>
            </a:r>
            <a:endParaRPr kumimoji="1" lang="zh-CN" altLang="en-US" dirty="0"/>
          </a:p>
        </p:txBody>
      </p:sp>
      <p:sp>
        <p:nvSpPr>
          <p:cNvPr id="2" name="Content Placeholder 2"/>
          <p:cNvSpPr>
            <a:spLocks noGrp="1"/>
          </p:cNvSpPr>
          <p:nvPr>
            <p:ph idx="1" hasCustomPrompt="1"/>
          </p:nvPr>
        </p:nvSpPr>
        <p:spPr>
          <a:xfrm>
            <a:off x="1212850" y="2454275"/>
            <a:ext cx="17754600" cy="7315200"/>
          </a:xfrm>
          <a:prstGeom prst="rect">
            <a:avLst/>
          </a:prstGeom>
        </p:spPr>
        <p:txBody>
          <a:bodyPr>
            <a:normAutofit/>
          </a:bodyPr>
          <a:lstStyle>
            <a:lvl1pPr marL="360045" indent="-360045" defTabSz="1080135">
              <a:lnSpc>
                <a:spcPct val="140000"/>
              </a:lnSpc>
              <a:spcBef>
                <a:spcPts val="900"/>
              </a:spcBef>
              <a:spcAft>
                <a:spcPts val="600"/>
              </a:spcAft>
              <a:buClr>
                <a:srgbClr val="CC3300"/>
              </a:buClr>
              <a:buFont typeface="Wingdings" panose="05000000000000000000" pitchFamily="2" charset="2"/>
              <a:buChar char="q"/>
              <a:defRPr sz="4400" spc="0" baseline="0">
                <a:latin typeface="Georgia" panose="02040502050405020303" pitchFamily="18" charset="0"/>
                <a:ea typeface="微软雅黑" panose="020B0503020204020204" pitchFamily="34" charset="-122"/>
                <a:cs typeface="Arial" panose="020B0604020202020204" pitchFamily="34" charset="0"/>
              </a:defRPr>
            </a:lvl1pPr>
            <a:lvl2pPr marL="1007745" indent="-288290">
              <a:lnSpc>
                <a:spcPct val="140000"/>
              </a:lnSpc>
              <a:spcBef>
                <a:spcPts val="900"/>
              </a:spcBef>
              <a:spcAft>
                <a:spcPts val="600"/>
              </a:spcAft>
              <a:buClr>
                <a:srgbClr val="CC3300"/>
              </a:buClr>
              <a:buFont typeface="Wingdings" panose="05000000000000000000" pitchFamily="2" charset="2"/>
              <a:buChar char="n"/>
              <a:defRPr sz="4000" spc="0" baseline="0">
                <a:latin typeface="Georgia" panose="02040502050405020303" pitchFamily="18" charset="0"/>
                <a:ea typeface="微软雅黑" panose="020B0503020204020204" pitchFamily="34" charset="-122"/>
                <a:cs typeface="Arial" panose="020B0604020202020204" pitchFamily="34" charset="0"/>
              </a:defRPr>
            </a:lvl2pPr>
            <a:lvl3pPr marL="1619885" marR="0" indent="-252095" algn="l" defTabSz="821055" rtl="0" eaLnBrk="1" fontAlgn="auto" latinLnBrk="0" hangingPunct="1">
              <a:lnSpc>
                <a:spcPct val="140000"/>
              </a:lnSpc>
              <a:spcBef>
                <a:spcPts val="900"/>
              </a:spcBef>
              <a:spcAft>
                <a:spcPts val="600"/>
              </a:spcAft>
              <a:buClr>
                <a:srgbClr val="CC3300"/>
              </a:buClr>
              <a:buSzTx/>
              <a:buFont typeface="Arial" panose="020B0604020202020204" pitchFamily="34" charset="0"/>
              <a:buChar char="•"/>
              <a:defRPr sz="3600" spc="-30" baseline="0">
                <a:latin typeface="Georgia" panose="02040502050405020303" pitchFamily="18" charset="0"/>
                <a:ea typeface="楷体" panose="02010609060101010101" pitchFamily="49" charset="-122"/>
                <a:cs typeface="Arial" panose="020B0604020202020204" pitchFamily="34" charset="0"/>
              </a:defRPr>
            </a:lvl3pPr>
            <a:lvl4pPr>
              <a:defRPr sz="2800" spc="-30" baseline="0">
                <a:latin typeface="Century" panose="02040604050505020304" pitchFamily="18" charset="0"/>
                <a:cs typeface="Arial" panose="020B0604020202020204" pitchFamily="34" charset="0"/>
              </a:defRPr>
            </a:lvl4pPr>
            <a:lvl5pPr>
              <a:defRPr sz="2800" spc="-30" baseline="0">
                <a:latin typeface="Century" panose="02040604050505020304" pitchFamily="18" charset="0"/>
                <a:cs typeface="Arial" panose="020B0604020202020204" pitchFamily="34" charset="0"/>
              </a:defRPr>
            </a:lvl5pPr>
          </a:lstStyle>
          <a:p>
            <a:pPr lvl="0"/>
            <a:r>
              <a:rPr lang="zh-CN" altLang="en-US" dirty="0"/>
              <a:t> 编辑母版文本样式</a:t>
            </a:r>
            <a:endParaRPr lang="zh-CN" altLang="en-US" dirty="0"/>
          </a:p>
          <a:p>
            <a:pPr lvl="1"/>
            <a:r>
              <a:rPr lang="zh-CN" altLang="en-US" dirty="0"/>
              <a:t> 第二级</a:t>
            </a:r>
            <a:endParaRPr lang="en-US" altLang="zh-CN" dirty="0"/>
          </a:p>
          <a:p>
            <a:pPr lvl="2"/>
            <a:r>
              <a:rPr lang="zh-CN" altLang="en-US" dirty="0"/>
              <a:t>第三级</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1703" y="381391"/>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
        <p:nvSpPr>
          <p:cNvPr id="2" name="Holder 2"/>
          <p:cNvSpPr>
            <a:spLocks noGrp="1"/>
          </p:cNvSpPr>
          <p:nvPr>
            <p:ph type="title"/>
          </p:nvPr>
        </p:nvSpPr>
        <p:spPr>
          <a:xfrm>
            <a:off x="604044" y="366339"/>
            <a:ext cx="15374564" cy="1077218"/>
          </a:xfrm>
          <a:prstGeom prst="rect">
            <a:avLst/>
          </a:prstGeom>
        </p:spPr>
        <p:txBody>
          <a:bodyPr wrap="square" lIns="0" tIns="0" rIns="0" bIns="0">
            <a:spAutoFit/>
          </a:bodyPr>
          <a:lstStyle>
            <a:lvl1pPr>
              <a:defRPr sz="7000" b="1" i="0">
                <a:solidFill>
                  <a:srgbClr val="A31F34"/>
                </a:solidFill>
                <a:latin typeface="Arial" panose="020B0604020202020204"/>
                <a:cs typeface="Arial" panose="020B0604020202020204"/>
              </a:defRPr>
            </a:lvl1pPr>
          </a:lstStyle>
          <a:p>
            <a:r>
              <a:rPr lang="en-US" altLang="zh-CN" dirty="0"/>
              <a:t>XXXXX</a:t>
            </a:r>
            <a:endParaRPr dirty="0"/>
          </a:p>
        </p:txBody>
      </p:sp>
      <p:sp>
        <p:nvSpPr>
          <p:cNvPr id="3" name="Holder 3"/>
          <p:cNvSpPr>
            <a:spLocks noGrp="1"/>
          </p:cNvSpPr>
          <p:nvPr>
            <p:ph type="body" idx="1"/>
          </p:nvPr>
        </p:nvSpPr>
        <p:spPr>
          <a:xfrm>
            <a:off x="1005287" y="2601155"/>
            <a:ext cx="18095119" cy="276999"/>
          </a:xfrm>
          <a:prstGeom prst="rect">
            <a:avLst/>
          </a:prstGeom>
        </p:spPr>
        <p:txBody>
          <a:bodyPr wrap="square" lIns="0" tIns="0" rIns="0" bIns="0">
            <a:spAutoFit/>
          </a:bodyPr>
          <a:lstStyle>
            <a:lvl1pPr>
              <a:defRPr/>
            </a:lvl1pPr>
          </a:lstStyle>
          <a:p>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defRPr>
          <a:solidFill>
            <a:schemeClr val="tx1"/>
          </a:solidFill>
          <a:latin typeface="Georgia" panose="02040502050405020303" pitchFamily="18" charset="0"/>
          <a:ea typeface="+mj-ea"/>
          <a:cs typeface="Times New Roman" panose="02020603050405020304" pitchFamily="18" charset="0"/>
        </a:defRPr>
      </a:lvl1pPr>
    </p:titleStyle>
    <p:bodyStyle>
      <a:lvl1pPr marL="0">
        <a:defRPr>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hyperlink" Target="https://github.com/fxsjy/jieba" TargetMode="External"/><Relationship Id="rId1" Type="http://schemas.openxmlformats.org/officeDocument/2006/relationships/hyperlink" Target="https://docs.pytorch.org/tutorials/intermediate/seq2seq_translation_tutoria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资源 3"/>
          <p:cNvPicPr>
            <a:picLocks noChangeAspect="1"/>
          </p:cNvPicPr>
          <p:nvPr/>
        </p:nvPicPr>
        <p:blipFill>
          <a:blip r:embed="rId1"/>
          <a:stretch>
            <a:fillRect/>
          </a:stretch>
        </p:blipFill>
        <p:spPr>
          <a:xfrm>
            <a:off x="527844" y="549275"/>
            <a:ext cx="4874635" cy="839470"/>
          </a:xfrm>
          <a:prstGeom prst="rect">
            <a:avLst/>
          </a:prstGeom>
        </p:spPr>
      </p:pic>
      <p:sp>
        <p:nvSpPr>
          <p:cNvPr id="5" name="文本框 3"/>
          <p:cNvSpPr txBox="1"/>
          <p:nvPr/>
        </p:nvSpPr>
        <p:spPr>
          <a:xfrm>
            <a:off x="-157956" y="2682875"/>
            <a:ext cx="20105688" cy="2744543"/>
          </a:xfrm>
          <a:prstGeom prst="rect">
            <a:avLst/>
          </a:prstGeom>
          <a:noFill/>
        </p:spPr>
        <p:txBody>
          <a:bodyPr wrap="square" tIns="216000" bIns="216000">
            <a:spAutoFit/>
          </a:bodyPr>
          <a:lstStyle/>
          <a:p>
            <a:pPr algn="ctr"/>
            <a:r>
              <a:rPr lang="en-US" altLang="zh-CN" sz="7200" b="1" spc="-100" dirty="0">
                <a:solidFill>
                  <a:schemeClr val="tx1"/>
                </a:solidFill>
                <a:effectLst/>
                <a:latin typeface="Georgia Bold" panose="02040802050405020203" pitchFamily="18" charset="0"/>
                <a:ea typeface="等线" panose="02010600030101010101" pitchFamily="2" charset="-122"/>
                <a:cs typeface="Times New Roman" panose="02020603050405020304" pitchFamily="18" charset="0"/>
              </a:rPr>
              <a:t>Natural Language Processing and Large Language Models</a:t>
            </a:r>
            <a:endParaRPr lang="zh-CN" altLang="en-US" sz="7200" b="1" spc="-100" dirty="0">
              <a:solidFill>
                <a:schemeClr val="tx1"/>
              </a:solidFill>
              <a:latin typeface="Georgia Bold" panose="02040802050405020203" pitchFamily="18" charset="0"/>
              <a:cs typeface="Times New Roman" panose="02020603050405020304" pitchFamily="18" charset="0"/>
            </a:endParaRPr>
          </a:p>
        </p:txBody>
      </p:sp>
      <p:sp>
        <p:nvSpPr>
          <p:cNvPr id="4" name="副标题 2"/>
          <p:cNvSpPr txBox="1"/>
          <p:nvPr/>
        </p:nvSpPr>
        <p:spPr>
          <a:xfrm>
            <a:off x="3847312" y="5622925"/>
            <a:ext cx="11767344" cy="300355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algn="ctr">
              <a:lnSpc>
                <a:spcPct val="130000"/>
              </a:lnSpc>
            </a:pPr>
            <a:endParaRPr kumimoji="1" lang="en-US" altLang="zh-CN" sz="3600" dirty="0">
              <a:latin typeface="Georgia" panose="02040502050405020303" pitchFamily="18" charset="0"/>
              <a:ea typeface="宋体" panose="02010600030101010101" pitchFamily="2" charset="-122"/>
              <a:cs typeface="Times New Roman" panose="02020603050405020304" pitchFamily="18" charset="0"/>
            </a:endParaRPr>
          </a:p>
          <a:p>
            <a:pPr algn="ctr">
              <a:lnSpc>
                <a:spcPct val="130000"/>
              </a:lnSpc>
            </a:pPr>
            <a:endParaRPr kumimoji="1" lang="en-US" altLang="zh-CN" sz="3600" dirty="0">
              <a:latin typeface="Georgia" panose="02040502050405020303" pitchFamily="18" charset="0"/>
              <a:ea typeface="宋体" panose="02010600030101010101" pitchFamily="2" charset="-122"/>
              <a:cs typeface="Times New Roman" panose="02020603050405020304" pitchFamily="18" charset="0"/>
            </a:endParaRPr>
          </a:p>
          <a:p>
            <a:pPr algn="ctr">
              <a:lnSpc>
                <a:spcPct val="130000"/>
              </a:lnSpc>
            </a:pPr>
            <a:r>
              <a:rPr kumimoji="1" lang="en-US" altLang="zh-CN" sz="2800" dirty="0">
                <a:latin typeface="Georgia" panose="02040502050405020303" pitchFamily="18" charset="0"/>
                <a:ea typeface="宋体" panose="02010600030101010101" pitchFamily="2" charset="-122"/>
                <a:cs typeface="Times New Roman" panose="02020603050405020304" pitchFamily="18" charset="0"/>
              </a:rPr>
              <a:t>Autumn, 2025</a:t>
            </a:r>
            <a:endParaRPr kumimoji="1" lang="zh-CN" altLang="en-US" sz="2800" dirty="0">
              <a:latin typeface="Georgia" panose="02040502050405020303"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0356" y="2225675"/>
            <a:ext cx="20105688" cy="2467544"/>
          </a:xfrm>
          <a:prstGeom prst="rect">
            <a:avLst/>
          </a:prstGeom>
          <a:noFill/>
        </p:spPr>
        <p:txBody>
          <a:bodyPr wrap="square" tIns="216000" bIns="216000">
            <a:spAutoFit/>
          </a:bodyPr>
          <a:lstStyle/>
          <a:p>
            <a:pPr algn="ctr"/>
            <a:r>
              <a:rPr lang="en-US" altLang="zh-CN" sz="7200" b="1" spc="-100" noProof="1">
                <a:solidFill>
                  <a:schemeClr val="tx1"/>
                </a:solidFill>
                <a:latin typeface="Georgia Bold" panose="02040802050405020203" pitchFamily="18" charset="0"/>
                <a:ea typeface="等线" panose="02010600030101010101" pitchFamily="2" charset="-122"/>
                <a:cs typeface="Times New Roman" panose="02020603050405020304" pitchFamily="18" charset="0"/>
                <a:sym typeface="+mn-ea"/>
              </a:rPr>
              <a:t>Midterm and Final Project</a:t>
            </a:r>
            <a:r>
              <a:rPr kumimoji="0" lang="en-US" altLang="zh-CN" sz="7200" b="1" i="0" u="none" strike="noStrike" kern="0" cap="none" spc="-100" normalizeH="0" baseline="0" noProof="1">
                <a:solidFill>
                  <a:schemeClr val="tx1"/>
                </a:solidFill>
                <a:effectLst/>
                <a:latin typeface="Georgia Bold" panose="02040802050405020203" pitchFamily="18" charset="0"/>
                <a:ea typeface="等线" panose="02010600030101010101" pitchFamily="2" charset="-122"/>
                <a:cs typeface="Times New Roman" panose="02020603050405020304" pitchFamily="18" charset="0"/>
                <a:sym typeface="+mn-ea"/>
              </a:rPr>
              <a:t>:</a:t>
            </a:r>
            <a:endParaRPr kumimoji="0" lang="en-US" altLang="zh-CN" sz="7200" b="1" i="0" u="none" strike="noStrike" kern="0" cap="none" spc="-100" normalizeH="0" baseline="0" noProof="1">
              <a:solidFill>
                <a:schemeClr val="tx1"/>
              </a:solidFill>
              <a:effectLst/>
              <a:latin typeface="Georgia Bold" panose="02040802050405020203" pitchFamily="18" charset="0"/>
              <a:ea typeface="等线" panose="02010600030101010101" pitchFamily="2" charset="-122"/>
              <a:cs typeface="Times New Roman" panose="02020603050405020304" pitchFamily="18" charset="0"/>
              <a:sym typeface="+mn-ea"/>
            </a:endParaRPr>
          </a:p>
          <a:p>
            <a:pPr algn="ctr"/>
            <a:r>
              <a:rPr kumimoji="0" lang="en-US" altLang="zh-CN" sz="5400" b="1" i="0" u="none" strike="noStrike" kern="0" cap="none" spc="-100" normalizeH="0" baseline="0" noProof="1">
                <a:solidFill>
                  <a:srgbClr val="C00000"/>
                </a:solidFill>
                <a:effectLst/>
                <a:latin typeface="Georgia Bold" panose="02040802050405020203" pitchFamily="18" charset="0"/>
                <a:ea typeface="等线" panose="02010600030101010101" pitchFamily="2" charset="-122"/>
                <a:cs typeface="Times New Roman" panose="02020603050405020304" pitchFamily="18" charset="0"/>
                <a:sym typeface="+mn-ea"/>
              </a:rPr>
              <a:t>Machine Translation between Chinese and English</a:t>
            </a:r>
            <a:endParaRPr lang="en-US" altLang="zh-CN" sz="5400" dirty="0">
              <a:solidFill>
                <a:srgbClr val="C00000"/>
              </a:solidFill>
            </a:endParaRPr>
          </a:p>
        </p:txBody>
      </p:sp>
      <p:pic>
        <p:nvPicPr>
          <p:cNvPr id="2" name="图片 1" descr="资源 3"/>
          <p:cNvPicPr>
            <a:picLocks noChangeAspect="1"/>
          </p:cNvPicPr>
          <p:nvPr/>
        </p:nvPicPr>
        <p:blipFill>
          <a:blip r:embed="rId1"/>
          <a:stretch>
            <a:fillRect/>
          </a:stretch>
        </p:blipFill>
        <p:spPr>
          <a:xfrm>
            <a:off x="527844" y="549275"/>
            <a:ext cx="4874635" cy="839470"/>
          </a:xfrm>
          <a:prstGeom prst="rect">
            <a:avLst/>
          </a:prstGeom>
        </p:spPr>
      </p:pic>
      <p:sp>
        <p:nvSpPr>
          <p:cNvPr id="3" name="文本框 2"/>
          <p:cNvSpPr txBox="1"/>
          <p:nvPr/>
        </p:nvSpPr>
        <p:spPr>
          <a:xfrm>
            <a:off x="1975644" y="4892675"/>
            <a:ext cx="16859568" cy="4114800"/>
          </a:xfrm>
          <a:prstGeom prst="rect">
            <a:avLst/>
          </a:prstGeom>
          <a:noFill/>
        </p:spPr>
        <p:txBody>
          <a:bodyPr wrap="square" rtlCol="0" anchor="t">
            <a:noAutofit/>
          </a:bodyPr>
          <a:lstStyle/>
          <a:p>
            <a:pPr algn="l">
              <a:lnSpc>
                <a:spcPct val="130000"/>
              </a:lnSpc>
            </a:pPr>
            <a:r>
              <a:rPr kumimoji="1" lang="en-US" altLang="en-GB" sz="4400" b="1" i="0" u="none" strike="noStrike" kern="0" cap="none" spc="0" normalizeH="0" baseline="0" noProof="1">
                <a:solidFill>
                  <a:schemeClr val="tx1"/>
                </a:solidFill>
                <a:latin typeface="Georgia" panose="02040502050405020303" pitchFamily="18" charset="0"/>
                <a:ea typeface="+mn-ea"/>
                <a:cs typeface="Times New Roman" panose="02020603050405020304" pitchFamily="18" charset="0"/>
              </a:rPr>
              <a:t>The Goal</a:t>
            </a:r>
            <a:r>
              <a:rPr kumimoji="1" lang="en-US" altLang="en-GB" sz="4400" noProof="1">
                <a:solidFill>
                  <a:schemeClr val="tx1"/>
                </a:solidFill>
                <a:latin typeface="Georgia" panose="02040502050405020303" pitchFamily="18" charset="0"/>
                <a:ea typeface="+mn-ea"/>
                <a:cs typeface="Times New Roman" panose="02020603050405020304" pitchFamily="18" charset="0"/>
              </a:rPr>
              <a:t>:</a:t>
            </a:r>
            <a:r>
              <a:rPr kumimoji="1" lang="zh-CN" altLang="en-US" sz="4400" noProof="1">
                <a:solidFill>
                  <a:srgbClr val="C00000"/>
                </a:solidFill>
                <a:latin typeface="Georgia" panose="02040502050405020303" pitchFamily="18" charset="0"/>
                <a:ea typeface="+mn-ea"/>
                <a:cs typeface="Times New Roman" panose="02020603050405020304" pitchFamily="18" charset="0"/>
              </a:rPr>
              <a:t> </a:t>
            </a:r>
            <a:r>
              <a:rPr kumimoji="1" lang="en-US" altLang="en-GB" sz="4400" b="0" i="0" u="none" strike="noStrike" kern="0" cap="none" spc="0" normalizeH="0" baseline="0" noProof="1">
                <a:latin typeface="Georgia" panose="02040502050405020303" pitchFamily="18" charset="0"/>
                <a:ea typeface="+mn-ea"/>
                <a:cs typeface="Times New Roman" panose="02020603050405020304" pitchFamily="18" charset="0"/>
              </a:rPr>
              <a:t>To implement Chinese–English machine translation using </a:t>
            </a:r>
            <a:r>
              <a:rPr kumimoji="1" lang="en-US" altLang="en-GB" sz="4400" b="0" i="0" u="none" strike="noStrike" kern="0" cap="none" spc="0" normalizeH="0" baseline="0" noProof="1">
                <a:solidFill>
                  <a:schemeClr val="accent1"/>
                </a:solidFill>
                <a:latin typeface="Georgia" panose="02040502050405020303" pitchFamily="18" charset="0"/>
                <a:ea typeface="+mn-ea"/>
                <a:cs typeface="Times New Roman" panose="02020603050405020304" pitchFamily="18" charset="0"/>
              </a:rPr>
              <a:t>RNN</a:t>
            </a:r>
            <a:r>
              <a:rPr kumimoji="1" lang="en-US" altLang="en-GB" sz="4400" noProof="1">
                <a:solidFill>
                  <a:schemeClr val="accent1"/>
                </a:solidFill>
                <a:latin typeface="Georgia" panose="02040502050405020303" pitchFamily="18" charset="0"/>
                <a:ea typeface="+mn-ea"/>
                <a:cs typeface="Times New Roman" panose="02020603050405020304" pitchFamily="18" charset="0"/>
              </a:rPr>
              <a:t> </a:t>
            </a:r>
            <a:r>
              <a:rPr kumimoji="1" lang="en-US" altLang="zh-CN" sz="4400" noProof="1">
                <a:solidFill>
                  <a:schemeClr val="tx1"/>
                </a:solidFill>
                <a:latin typeface="Georgia" panose="02040502050405020303" pitchFamily="18" charset="0"/>
                <a:ea typeface="+mn-ea"/>
                <a:cs typeface="Times New Roman" panose="02020603050405020304" pitchFamily="18" charset="0"/>
              </a:rPr>
              <a:t>and</a:t>
            </a:r>
            <a:r>
              <a:rPr kumimoji="1" lang="en-US" altLang="zh-CN" sz="4400" noProof="1">
                <a:solidFill>
                  <a:schemeClr val="accent1"/>
                </a:solidFill>
                <a:latin typeface="Georgia" panose="02040502050405020303" pitchFamily="18" charset="0"/>
                <a:ea typeface="+mn-ea"/>
                <a:cs typeface="Times New Roman" panose="02020603050405020304" pitchFamily="18" charset="0"/>
              </a:rPr>
              <a:t> </a:t>
            </a:r>
            <a:r>
              <a:rPr kumimoji="1" lang="en-US" altLang="en-GB" sz="4400" b="0" i="0" u="none" strike="noStrike" kern="0" cap="none" spc="0" normalizeH="0" baseline="0" noProof="1">
                <a:solidFill>
                  <a:schemeClr val="accent1"/>
                </a:solidFill>
                <a:latin typeface="Georgia" panose="02040502050405020303" pitchFamily="18" charset="0"/>
                <a:ea typeface="+mn-ea"/>
                <a:cs typeface="Times New Roman" panose="02020603050405020304" pitchFamily="18" charset="0"/>
              </a:rPr>
              <a:t>Transformer </a:t>
            </a:r>
            <a:r>
              <a:rPr kumimoji="1" lang="en-US" altLang="en-GB" sz="4400" b="0" i="0" u="none" strike="noStrike" kern="0" cap="none" spc="0" normalizeH="0" baseline="0" noProof="1">
                <a:solidFill>
                  <a:schemeClr val="tx1"/>
                </a:solidFill>
                <a:latin typeface="Georgia" panose="02040502050405020303" pitchFamily="18" charset="0"/>
                <a:ea typeface="+mn-ea"/>
                <a:cs typeface="Times New Roman" panose="02020603050405020304" pitchFamily="18" charset="0"/>
              </a:rPr>
              <a:t>model</a:t>
            </a:r>
            <a:r>
              <a:rPr kumimoji="1" lang="en-US" altLang="en-GB" sz="4400" b="0" i="0" u="none" strike="noStrike" kern="0" cap="none" spc="0" normalizeH="0" baseline="0" noProof="1">
                <a:latin typeface="Georgia" panose="02040502050405020303" pitchFamily="18" charset="0"/>
                <a:ea typeface="+mn-ea"/>
                <a:cs typeface="Times New Roman" panose="02020603050405020304" pitchFamily="18" charset="0"/>
              </a:rPr>
              <a:t>, and compare their performance and architectural differences.</a:t>
            </a:r>
            <a:endParaRPr kumimoji="1" lang="en-US" altLang="en-GB" sz="4400" b="0" i="0" u="none" strike="noStrike" kern="0" cap="none" spc="0" normalizeH="0" baseline="0" noProof="1">
              <a:latin typeface="Georgia" panose="02040502050405020303" pitchFamily="18" charset="0"/>
              <a:ea typeface="+mn-ea"/>
              <a:cs typeface="Times New Roman" panose="02020603050405020304" pitchFamily="18" charset="0"/>
            </a:endParaRPr>
          </a:p>
          <a:p>
            <a:br>
              <a:rPr lang="en-US" altLang="zh-CN" sz="4400" dirty="0"/>
            </a:br>
            <a:endParaRPr kumimoji="1" lang="en-US" altLang="en-GB" sz="4400" b="0" i="0" u="none" strike="noStrike" kern="0" cap="none" spc="0" normalizeH="0" baseline="0" noProof="1">
              <a:latin typeface="Georgia" panose="02040502050405020303" pitchFamily="18" charset="0"/>
              <a:ea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latin typeface="Georgia" panose="02040502050405020303" pitchFamily="18" charset="0"/>
                <a:ea typeface="+mn-ea"/>
                <a:cs typeface="Times New Roman" panose="02020603050405020304" pitchFamily="18" charset="0"/>
              </a:rPr>
              <a:t> Assignment Requirements</a:t>
            </a:r>
            <a:endPar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6" name="bg object 17"/>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044" y="244475"/>
            <a:ext cx="15374564" cy="830997"/>
          </a:xfrm>
        </p:spPr>
        <p:txBody>
          <a:bodyPr/>
          <a:lstStyle/>
          <a:p>
            <a:r>
              <a:rPr kumimoji="1" lang="en-US" altLang="zh-CN" sz="5400" b="0" dirty="0">
                <a:latin typeface="Georgia" panose="02040502050405020303" pitchFamily="18" charset="0"/>
              </a:rPr>
              <a:t>Assignment Requirements</a:t>
            </a:r>
            <a:endParaRPr lang="en-US" sz="5400" b="0" dirty="0"/>
          </a:p>
        </p:txBody>
      </p:sp>
      <p:sp>
        <p:nvSpPr>
          <p:cNvPr id="3" name="Content Placeholder 2"/>
          <p:cNvSpPr txBox="1"/>
          <p:nvPr/>
        </p:nvSpPr>
        <p:spPr>
          <a:xfrm>
            <a:off x="464650" y="6088178"/>
            <a:ext cx="19176387" cy="822960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514350" indent="-514350">
              <a:spcBef>
                <a:spcPts val="0"/>
              </a:spcBef>
              <a:spcAft>
                <a:spcPts val="1200"/>
              </a:spcAft>
              <a:buClr>
                <a:srgbClr val="C00000"/>
              </a:buClr>
              <a:buSzPct val="120000"/>
              <a:buFont typeface="+mj-lt"/>
              <a:buAutoNum type="arabicPeriod"/>
            </a:pPr>
            <a:r>
              <a:rPr kumimoji="1" lang="en-US" altLang="zh-CN" sz="2800" b="1" dirty="0">
                <a:latin typeface="Georgia" panose="02040502050405020303" pitchFamily="18" charset="0"/>
                <a:cs typeface="Times New Roman" panose="02020603050405020304" pitchFamily="18" charset="0"/>
              </a:rPr>
              <a:t>RNN-based NMT:</a:t>
            </a:r>
            <a:r>
              <a:rPr kumimoji="1" lang="en-US" altLang="zh-CN" sz="2800" dirty="0">
                <a:latin typeface="Georgia" panose="02040502050405020303" pitchFamily="18" charset="0"/>
                <a:cs typeface="Times New Roman" panose="02020603050405020304" pitchFamily="18" charset="0"/>
              </a:rPr>
              <a:t> Build and train a RNN-based NMT, including:</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Font typeface="Wingdings" panose="05000000000000000000" pitchFamily="2" charset="2"/>
              <a:buChar char="n"/>
            </a:pPr>
            <a:r>
              <a:rPr lang="en-US" altLang="zh-CN" sz="2800" dirty="0">
                <a:solidFill>
                  <a:srgbClr val="0432FF"/>
                </a:solidFill>
                <a:latin typeface="Georgia" panose="02040502050405020303" pitchFamily="18" charset="0"/>
                <a:cs typeface="Times New Roman" panose="02020603050405020304" pitchFamily="18" charset="0"/>
              </a:rPr>
              <a:t>Model:</a:t>
            </a:r>
            <a:r>
              <a:rPr kumimoji="1" lang="en-US" altLang="zh-CN" sz="2800" dirty="0">
                <a:latin typeface="Georgia" panose="02040502050405020303" pitchFamily="18" charset="0"/>
                <a:cs typeface="Times New Roman" panose="02020603050405020304" pitchFamily="18" charset="0"/>
              </a:rPr>
              <a:t> Implement a model using either GRU or LSTM, with both the encoder and decoder consisting of two unidirectional layers.</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Font typeface="Wingdings" panose="05000000000000000000" pitchFamily="2" charset="2"/>
              <a:buChar char="n"/>
            </a:pPr>
            <a:r>
              <a:rPr lang="en-US" altLang="zh-CN" sz="2800" dirty="0">
                <a:solidFill>
                  <a:srgbClr val="0432FF"/>
                </a:solidFill>
                <a:latin typeface="Georgia" panose="02040502050405020303" pitchFamily="18" charset="0"/>
                <a:cs typeface="Times New Roman" panose="02020603050405020304" pitchFamily="18" charset="0"/>
              </a:rPr>
              <a:t>Attention mechanism:</a:t>
            </a:r>
            <a:r>
              <a:rPr kumimoji="1" lang="en-US" altLang="zh-CN" sz="2800" dirty="0">
                <a:latin typeface="Georgia" panose="02040502050405020303" pitchFamily="18" charset="0"/>
                <a:cs typeface="Times New Roman" panose="02020603050405020304" pitchFamily="18" charset="0"/>
              </a:rPr>
              <a:t> Implement the attention mechanism and investigate the impact of different alignment functions—such as dot-product, multiplicative, and additive—on model performance.</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Training policy</a:t>
            </a:r>
            <a:r>
              <a:rPr kumimoji="1" lang="en-US" altLang="zh-CN" sz="2800" dirty="0">
                <a:latin typeface="Georgia" panose="02040502050405020303" pitchFamily="18" charset="0"/>
                <a:cs typeface="Times New Roman" panose="02020603050405020304" pitchFamily="18" charset="0"/>
              </a:rPr>
              <a:t>: Compare the effectiveness of Teacher Forcing and Free Running strategies.</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Decoding policy</a:t>
            </a:r>
            <a:r>
              <a:rPr kumimoji="1" lang="en-US" altLang="zh-CN" sz="2800" dirty="0">
                <a:latin typeface="Georgia" panose="02040502050405020303" pitchFamily="18" charset="0"/>
                <a:cs typeface="Times New Roman" panose="02020603050405020304" pitchFamily="18" charset="0"/>
              </a:rPr>
              <a:t>: Compare the effectiveness of  greedy and beam-search decoding strategies.</a:t>
            </a:r>
            <a:endParaRPr kumimoji="1" lang="en-US" altLang="zh-CN" sz="2800" dirty="0">
              <a:latin typeface="Georgia" panose="02040502050405020303"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6319044" y="1197336"/>
            <a:ext cx="8000998" cy="4890842"/>
          </a:xfrm>
          <a:prstGeom prst="rect">
            <a:avLst/>
          </a:prstGeom>
        </p:spPr>
      </p:pic>
      <p:sp>
        <p:nvSpPr>
          <p:cNvPr id="5" name="bg object 17"/>
          <p:cNvSpPr/>
          <p:nvPr/>
        </p:nvSpPr>
        <p:spPr>
          <a:xfrm>
            <a:off x="-1703" y="168275"/>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044" y="244475"/>
            <a:ext cx="15374564" cy="830997"/>
          </a:xfrm>
        </p:spPr>
        <p:txBody>
          <a:bodyPr/>
          <a:lstStyle/>
          <a:p>
            <a:r>
              <a:rPr kumimoji="1" lang="en-US" altLang="zh-CN" sz="5400" b="0" dirty="0">
                <a:latin typeface="Georgia" panose="02040502050405020303" pitchFamily="18" charset="0"/>
              </a:rPr>
              <a:t>Assignment Requirements</a:t>
            </a:r>
            <a:endParaRPr lang="en-US" sz="5400" b="0" dirty="0"/>
          </a:p>
        </p:txBody>
      </p:sp>
      <p:sp>
        <p:nvSpPr>
          <p:cNvPr id="3" name="Content Placeholder 2"/>
          <p:cNvSpPr txBox="1"/>
          <p:nvPr/>
        </p:nvSpPr>
        <p:spPr>
          <a:xfrm>
            <a:off x="464648" y="4892675"/>
            <a:ext cx="19176387" cy="822960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514350" indent="-514350">
              <a:spcBef>
                <a:spcPts val="0"/>
              </a:spcBef>
              <a:spcAft>
                <a:spcPts val="1200"/>
              </a:spcAft>
              <a:buClr>
                <a:srgbClr val="C00000"/>
              </a:buClr>
              <a:buSzPct val="120000"/>
              <a:buFont typeface="+mj-lt"/>
              <a:buAutoNum type="arabicPeriod" startAt="2"/>
            </a:pPr>
            <a:r>
              <a:rPr kumimoji="1" lang="en-US" altLang="zh-CN" sz="2800" b="1" dirty="0">
                <a:latin typeface="Georgia" panose="02040502050405020303" pitchFamily="18" charset="0"/>
                <a:cs typeface="Times New Roman" panose="02020603050405020304" pitchFamily="18" charset="0"/>
              </a:rPr>
              <a:t>Transformer-based NMT:</a:t>
            </a:r>
            <a:r>
              <a:rPr kumimoji="1" lang="en-US" altLang="zh-CN" sz="2800" dirty="0">
                <a:latin typeface="Georgia" panose="02040502050405020303" pitchFamily="18" charset="0"/>
                <a:cs typeface="Times New Roman" panose="02020603050405020304" pitchFamily="18" charset="0"/>
              </a:rPr>
              <a:t> Build and train a Transformer-based NMT, including:</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SzPct val="100000"/>
              <a:buFont typeface="Wingdings" panose="05000000000000000000" pitchFamily="2" charset="2"/>
              <a:buChar char="n"/>
            </a:pPr>
            <a:r>
              <a:rPr lang="en-US" altLang="zh-CN" sz="2800" dirty="0">
                <a:solidFill>
                  <a:srgbClr val="0432FF"/>
                </a:solidFill>
                <a:latin typeface="Georgia" panose="02040502050405020303" pitchFamily="18" charset="0"/>
                <a:cs typeface="Times New Roman" panose="02020603050405020304" pitchFamily="18" charset="0"/>
              </a:rPr>
              <a:t>From scratch:</a:t>
            </a:r>
            <a:r>
              <a:rPr kumimoji="1" lang="en-US" altLang="zh-CN" sz="2800" dirty="0">
                <a:latin typeface="Georgia" panose="02040502050405020303" pitchFamily="18" charset="0"/>
                <a:cs typeface="Times New Roman" panose="02020603050405020304" pitchFamily="18" charset="0"/>
              </a:rPr>
              <a:t> Build a Chinese-to-English translation model using the Transformer architecture with an encoder-decoder structure and train it from scratch.</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SzPct val="100000"/>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Architectural Ablation</a:t>
            </a:r>
            <a:r>
              <a:rPr kumimoji="1" lang="en-US" altLang="zh-CN" sz="2800" dirty="0">
                <a:latin typeface="Georgia" panose="02040502050405020303" pitchFamily="18" charset="0"/>
                <a:cs typeface="Times New Roman" panose="02020603050405020304" pitchFamily="18" charset="0"/>
              </a:rPr>
              <a:t>: Train from scratch and compare the effects of different position embedding schemes (e.g., absolute vs. relative) and normalization methods (e.g., </a:t>
            </a:r>
            <a:r>
              <a:rPr kumimoji="1" lang="en-US" altLang="zh-CN" sz="2800" dirty="0" err="1">
                <a:latin typeface="Georgia" panose="02040502050405020303" pitchFamily="18" charset="0"/>
                <a:cs typeface="Times New Roman" panose="02020603050405020304" pitchFamily="18" charset="0"/>
              </a:rPr>
              <a:t>LayerNorm</a:t>
            </a:r>
            <a:r>
              <a:rPr kumimoji="1" lang="en-US" altLang="zh-CN" sz="2800" dirty="0">
                <a:latin typeface="Georgia" panose="02040502050405020303" pitchFamily="18" charset="0"/>
                <a:cs typeface="Times New Roman" panose="02020603050405020304" pitchFamily="18" charset="0"/>
              </a:rPr>
              <a:t> vs. </a:t>
            </a:r>
            <a:r>
              <a:rPr kumimoji="1" lang="en-US" altLang="zh-CN" sz="2800" dirty="0" err="1">
                <a:latin typeface="Georgia" panose="02040502050405020303" pitchFamily="18" charset="0"/>
                <a:cs typeface="Times New Roman" panose="02020603050405020304" pitchFamily="18" charset="0"/>
              </a:rPr>
              <a:t>RMSNorm</a:t>
            </a:r>
            <a:r>
              <a:rPr kumimoji="1" lang="en-US" altLang="zh-CN" sz="2800" dirty="0">
                <a:latin typeface="Georgia" panose="02040502050405020303" pitchFamily="18" charset="0"/>
                <a:cs typeface="Times New Roman" panose="02020603050405020304" pitchFamily="18" charset="0"/>
              </a:rPr>
              <a:t>).</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SzPct val="100000"/>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Hyperparameter Sensitivity</a:t>
            </a:r>
            <a:r>
              <a:rPr kumimoji="1" lang="en-US" altLang="zh-CN" sz="2800" dirty="0">
                <a:latin typeface="Georgia" panose="02040502050405020303" pitchFamily="18" charset="0"/>
                <a:cs typeface="Times New Roman" panose="02020603050405020304" pitchFamily="18" charset="0"/>
              </a:rPr>
              <a:t>: Train from scratch with varying batch sizes, learning rates, and model scales to assess their impact on translation performance.</a:t>
            </a:r>
            <a:endParaRPr kumimoji="1" lang="en-US" altLang="zh-CN" sz="2800" dirty="0">
              <a:latin typeface="Georgia" panose="02040502050405020303" pitchFamily="18" charset="0"/>
              <a:cs typeface="Times New Roman" panose="02020603050405020304" pitchFamily="18" charset="0"/>
            </a:endParaRPr>
          </a:p>
          <a:p>
            <a:pPr marL="914400" lvl="1" indent="-457200">
              <a:spcAft>
                <a:spcPts val="3000"/>
              </a:spcAft>
              <a:buClr>
                <a:srgbClr val="C00000"/>
              </a:buClr>
              <a:buSzPct val="100000"/>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From pretrained language model</a:t>
            </a:r>
            <a:r>
              <a:rPr kumimoji="1" lang="en-US" altLang="zh-CN" sz="2800" dirty="0">
                <a:latin typeface="Georgia" panose="02040502050405020303" pitchFamily="18" charset="0"/>
                <a:cs typeface="Times New Roman" panose="02020603050405020304" pitchFamily="18" charset="0"/>
              </a:rPr>
              <a:t>: Fine-tune a pretrained language model (e.g., T5) to adapt it for neural machine translation and evaluate its performance in comparison with models trained from scratch.</a:t>
            </a:r>
            <a:endParaRPr kumimoji="1" lang="en-US" altLang="zh-CN" sz="2800" dirty="0">
              <a:latin typeface="Georgia" panose="02040502050405020303" pitchFamily="18" charset="0"/>
              <a:cs typeface="Times New Roman" panose="02020603050405020304" pitchFamily="18" charset="0"/>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09280" y="1075472"/>
            <a:ext cx="11287125" cy="3599484"/>
          </a:xfrm>
          <a:prstGeom prst="rect">
            <a:avLst/>
          </a:prstGeom>
        </p:spPr>
      </p:pic>
      <p:sp>
        <p:nvSpPr>
          <p:cNvPr id="6" name="bg object 17"/>
          <p:cNvSpPr/>
          <p:nvPr/>
        </p:nvSpPr>
        <p:spPr>
          <a:xfrm>
            <a:off x="-1703" y="244475"/>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b="0" dirty="0">
                <a:latin typeface="Georgia" panose="02040502050405020303" pitchFamily="18" charset="0"/>
              </a:rPr>
              <a:t>Assignment Requirements</a:t>
            </a:r>
            <a:endParaRPr lang="en-US" b="0" dirty="0"/>
          </a:p>
        </p:txBody>
      </p:sp>
      <p:sp>
        <p:nvSpPr>
          <p:cNvPr id="3" name="Content Placeholder 2"/>
          <p:cNvSpPr txBox="1"/>
          <p:nvPr/>
        </p:nvSpPr>
        <p:spPr>
          <a:xfrm>
            <a:off x="706257" y="2454274"/>
            <a:ext cx="18795387" cy="822960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914400" indent="-914400">
              <a:lnSpc>
                <a:spcPct val="150000"/>
              </a:lnSpc>
              <a:spcAft>
                <a:spcPts val="1200"/>
              </a:spcAft>
              <a:buClr>
                <a:srgbClr val="C00000"/>
              </a:buClr>
              <a:buSzPct val="120000"/>
              <a:buFont typeface="+mj-lt"/>
              <a:buAutoNum type="arabicPeriod" startAt="3"/>
            </a:pPr>
            <a:r>
              <a:rPr kumimoji="1" lang="en-US" altLang="zh-CN" sz="4000" b="1" dirty="0">
                <a:latin typeface="Georgia" panose="02040502050405020303" pitchFamily="18" charset="0"/>
                <a:cs typeface="Times New Roman" panose="02020603050405020304" pitchFamily="18" charset="0"/>
              </a:rPr>
              <a:t>Analysis and Comparison:</a:t>
            </a:r>
            <a:r>
              <a:rPr lang="en-US" altLang="zh-CN" sz="4000" dirty="0">
                <a:latin typeface="Georgia" panose="02040502050405020303" pitchFamily="18" charset="0"/>
                <a:cs typeface="Times New Roman" panose="02020603050405020304" pitchFamily="18" charset="0"/>
              </a:rPr>
              <a:t> </a:t>
            </a:r>
            <a:r>
              <a:rPr kumimoji="1" lang="en-US" altLang="zh-CN" sz="4000" dirty="0">
                <a:latin typeface="Georgia" panose="02040502050405020303" pitchFamily="18" charset="0"/>
                <a:cs typeface="Times New Roman" panose="02020603050405020304" pitchFamily="18" charset="0"/>
              </a:rPr>
              <a:t>Conduct a comprehensive comparison between the RNN-based and Transformer-based NMT models in terms of:</a:t>
            </a:r>
            <a:r>
              <a:rPr kumimoji="1" lang="zh-CN" altLang="en-US" sz="4000" dirty="0">
                <a:latin typeface="Georgia" panose="02040502050405020303" pitchFamily="18" charset="0"/>
                <a:cs typeface="Times New Roman" panose="02020603050405020304" pitchFamily="18" charset="0"/>
              </a:rPr>
              <a:t> </a:t>
            </a:r>
            <a:endParaRPr kumimoji="1" lang="en-US" altLang="zh-CN" sz="4000" dirty="0">
              <a:latin typeface="Georgia" panose="02040502050405020303" pitchFamily="18" charset="0"/>
              <a:cs typeface="Times New Roman" panose="02020603050405020304" pitchFamily="18" charset="0"/>
            </a:endParaRPr>
          </a:p>
          <a:p>
            <a:pPr marL="136779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Model architecture (e.g., sequential vs. parallel computation, recurrence vs. self-attention),</a:t>
            </a:r>
            <a:endParaRPr kumimoji="1" lang="en-US" altLang="zh-CN" sz="3200" dirty="0">
              <a:latin typeface="Georgia" panose="02040502050405020303" pitchFamily="18" charset="0"/>
              <a:cs typeface="Times New Roman" panose="02020603050405020304" pitchFamily="18" charset="0"/>
            </a:endParaRPr>
          </a:p>
          <a:p>
            <a:pPr marL="136779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Training efficiency (e.g., training time, convergence speed, hardware requirements),</a:t>
            </a:r>
            <a:endParaRPr kumimoji="1" lang="en-US" altLang="zh-CN" sz="3200" dirty="0">
              <a:latin typeface="Georgia" panose="02040502050405020303" pitchFamily="18" charset="0"/>
              <a:cs typeface="Times New Roman" panose="02020603050405020304" pitchFamily="18" charset="0"/>
            </a:endParaRPr>
          </a:p>
          <a:p>
            <a:pPr marL="136779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Translation performance (e.g., BLEU score, fluency, adequacy),</a:t>
            </a:r>
            <a:endParaRPr kumimoji="1" lang="en-US" altLang="zh-CN" sz="3200" dirty="0">
              <a:latin typeface="Georgia" panose="02040502050405020303" pitchFamily="18" charset="0"/>
              <a:cs typeface="Times New Roman" panose="02020603050405020304" pitchFamily="18" charset="0"/>
            </a:endParaRPr>
          </a:p>
          <a:p>
            <a:pPr marL="136779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Scalability and generalization (e.g., handling long sentences, low-resource scenarios),</a:t>
            </a:r>
            <a:endParaRPr kumimoji="1" lang="en-US" altLang="zh-CN" sz="3200" dirty="0">
              <a:latin typeface="Georgia" panose="02040502050405020303" pitchFamily="18" charset="0"/>
              <a:cs typeface="Times New Roman" panose="02020603050405020304" pitchFamily="18" charset="0"/>
            </a:endParaRPr>
          </a:p>
          <a:p>
            <a:pPr marL="136779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Practical trade-offs (e.g., model size, inference latency, ease of implementation).</a:t>
            </a:r>
            <a:endParaRPr kumimoji="1" lang="en-US" altLang="zh-CN" sz="3200" dirty="0">
              <a:latin typeface="Georgia" panose="02040502050405020303" pitchFamily="18" charset="0"/>
              <a:cs typeface="Times New Roman" panose="02020603050405020304" pitchFamily="18" charset="0"/>
            </a:endParaRPr>
          </a:p>
        </p:txBody>
      </p:sp>
      <p:sp>
        <p:nvSpPr>
          <p:cNvPr id="4" name="bg object 17"/>
          <p:cNvSpPr/>
          <p:nvPr/>
        </p:nvSpPr>
        <p:spPr>
          <a:xfrm>
            <a:off x="-1703" y="381391"/>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endPar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lang="en-US" altLang="zh-CN" sz="8800" dirty="0">
                <a:solidFill>
                  <a:schemeClr val="tx1"/>
                </a:solidFill>
              </a:rPr>
              <a:t> </a:t>
            </a:r>
            <a:r>
              <a:rPr kumimoji="1" lang="en-US" altLang="zh-CN" sz="8800" dirty="0">
                <a:solidFill>
                  <a:schemeClr val="tx1"/>
                </a:solidFill>
                <a:latin typeface="Georgia" panose="02040502050405020303" pitchFamily="18" charset="0"/>
                <a:ea typeface="+mn-ea"/>
                <a:cs typeface="Times New Roman" panose="02020603050405020304" pitchFamily="18" charset="0"/>
              </a:rPr>
              <a:t>Datasets Description</a:t>
            </a:r>
            <a:endParaRPr kumimoji="1" lang="en-US" altLang="zh-CN" sz="8800" dirty="0">
              <a:solidFill>
                <a:schemeClr val="tx1"/>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Datasets Introduction</a:t>
            </a:r>
            <a:endParaRPr kumimoji="1" lang="en-US" altLang="zh-CN" sz="7000" dirty="0">
              <a:solidFill>
                <a:srgbClr val="A31F34"/>
              </a:solidFill>
            </a:endParaRP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fld>
            <a:endParaRPr lang="en-US" altLang="zh-CN" spc="-51" dirty="0"/>
          </a:p>
        </p:txBody>
      </p:sp>
      <p:sp>
        <p:nvSpPr>
          <p:cNvPr id="5" name="内容占位符 2"/>
          <p:cNvSpPr txBox="1"/>
          <p:nvPr/>
        </p:nvSpPr>
        <p:spPr>
          <a:xfrm>
            <a:off x="430530" y="2454275"/>
            <a:ext cx="19365595" cy="8410575"/>
          </a:xfrm>
          <a:prstGeom prst="rect">
            <a:avLst/>
          </a:prstGeom>
        </p:spPr>
        <p:txBody>
          <a:bodyPr>
            <a:normAutofit fontScale="775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zh-CN" altLang="en-US" sz="4800" b="1" dirty="0">
                <a:solidFill>
                  <a:schemeClr val="tx1"/>
                </a:solidFill>
                <a:latin typeface="Georgia" panose="02040502050405020303" pitchFamily="18" charset="0"/>
              </a:rPr>
              <a:t> </a:t>
            </a:r>
            <a:r>
              <a:rPr kumimoji="1" lang="en-US" altLang="zh-CN" sz="4800" b="1" dirty="0">
                <a:solidFill>
                  <a:schemeClr val="tx1"/>
                </a:solidFill>
                <a:latin typeface="Georgia" panose="02040502050405020303" pitchFamily="18" charset="0"/>
              </a:rPr>
              <a:t>Description: </a:t>
            </a:r>
            <a:r>
              <a:rPr kumimoji="1" lang="en-US" altLang="zh-CN" sz="4800" dirty="0">
                <a:solidFill>
                  <a:schemeClr val="tx1"/>
                </a:solidFill>
                <a:latin typeface="Georgia" panose="02040502050405020303" pitchFamily="18" charset="0"/>
              </a:rPr>
              <a:t>The compressed package contains four JSONL files, corresponding respectively to the small training set, large training set, validation set, and test set, with sizes of 100k, 10k, 500, and 200 samples. Each line in a JSONL file contains one parallel sentence pair. The final model performance will be evaluated based on results on the test set.</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highlight>
                  <a:srgbClr val="FFFF00"/>
                </a:highlight>
                <a:latin typeface="Georgia" panose="02040502050405020303" pitchFamily="18" charset="0"/>
              </a:rPr>
              <a:t>Data access: </a:t>
            </a:r>
            <a:r>
              <a:rPr kumimoji="1" lang="en-US" altLang="zh-CN" sz="4800" dirty="0">
                <a:solidFill>
                  <a:schemeClr val="tx1"/>
                </a:solidFill>
                <a:highlight>
                  <a:srgbClr val="FFFF00"/>
                </a:highlight>
                <a:latin typeface="Georgia" panose="02040502050405020303" pitchFamily="18" charset="0"/>
              </a:rPr>
              <a:t>https://piazza.com/class_profile/get_resource/mfzcdlplb7n1n0/mifeas1otj31pl.</a:t>
            </a:r>
            <a:endParaRPr kumimoji="1" lang="en-US" altLang="zh-CN" sz="4800" dirty="0">
              <a:solidFill>
                <a:schemeClr val="tx1"/>
              </a:solidFill>
              <a:highlight>
                <a:srgbClr val="FFFF00"/>
              </a:highlight>
              <a:latin typeface="Georgia" panose="02040502050405020303" pitchFamily="18" charset="0"/>
            </a:endParaRPr>
          </a:p>
          <a:p>
            <a:pPr>
              <a:lnSpc>
                <a:spcPct val="150000"/>
              </a:lnSpc>
              <a:spcAft>
                <a:spcPts val="2400"/>
              </a:spcAft>
              <a:buClr>
                <a:srgbClr val="B20002"/>
              </a:buClr>
            </a:pPr>
            <a:r>
              <a:rPr kumimoji="1" lang="en-US" altLang="zh-CN" sz="4800" dirty="0">
                <a:solidFill>
                  <a:srgbClr val="C00000"/>
                </a:solidFill>
                <a:latin typeface="Georgia" panose="02040502050405020303" pitchFamily="18" charset="0"/>
              </a:rPr>
              <a:t>Note:</a:t>
            </a:r>
            <a:r>
              <a:rPr kumimoji="1" lang="zh-CN" altLang="en-US" sz="4800" dirty="0">
                <a:solidFill>
                  <a:srgbClr val="C00000"/>
                </a:solidFill>
                <a:latin typeface="Georgia" panose="02040502050405020303" pitchFamily="18" charset="0"/>
              </a:rPr>
              <a:t> </a:t>
            </a:r>
            <a:r>
              <a:rPr kumimoji="1" lang="en-US" altLang="zh-CN" sz="4800" dirty="0">
                <a:solidFill>
                  <a:schemeClr val="tx1"/>
                </a:solidFill>
                <a:latin typeface="Georgia" panose="02040502050405020303" pitchFamily="18" charset="0"/>
              </a:rPr>
              <a:t>If computational resources are limited, you may train using only 10k parallel sentence pairs from the small training set. However, you are encouraged to explore training with the large training set.</a:t>
            </a:r>
            <a:endParaRPr lang="en-US" altLang="zh-CN" sz="4800" dirty="0">
              <a:solidFill>
                <a:srgbClr val="0432FF"/>
              </a:solidFill>
              <a:latin typeface="Georgia" panose="02040502050405020303"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Datasets Preprocessing</a:t>
            </a:r>
            <a:endParaRPr kumimoji="1" lang="en-US" altLang="zh-CN" sz="7000" dirty="0">
              <a:solidFill>
                <a:srgbClr val="A31F34"/>
              </a:solidFill>
            </a:endParaRP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fld>
            <a:endParaRPr lang="en-US" altLang="zh-CN" spc="-51" dirty="0"/>
          </a:p>
        </p:txBody>
      </p:sp>
      <p:sp>
        <p:nvSpPr>
          <p:cNvPr id="5" name="内容占位符 2"/>
          <p:cNvSpPr txBox="1"/>
          <p:nvPr/>
        </p:nvSpPr>
        <p:spPr>
          <a:xfrm>
            <a:off x="430530" y="2454275"/>
            <a:ext cx="19365595" cy="8410575"/>
          </a:xfrm>
          <a:prstGeom prst="rect">
            <a:avLst/>
          </a:prstGeom>
        </p:spPr>
        <p:txBody>
          <a:bodyPr>
            <a:normAutofit fontScale="550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Data Cleaning</a:t>
            </a:r>
            <a:r>
              <a:rPr kumimoji="1" lang="en-US" altLang="zh-CN" sz="4800" dirty="0">
                <a:solidFill>
                  <a:schemeClr val="tx1"/>
                </a:solidFill>
                <a:latin typeface="Georgia" panose="02040502050405020303" pitchFamily="18" charset="0"/>
              </a:rPr>
              <a:t>: Remove illegal characters and filter out rare words; filter or truncate excessively long sentences.</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Tokenization</a:t>
            </a:r>
            <a:r>
              <a:rPr kumimoji="1" lang="en-US" altLang="zh-CN" sz="4800" dirty="0">
                <a:solidFill>
                  <a:schemeClr val="tx1"/>
                </a:solidFill>
                <a:latin typeface="Georgia" panose="02040502050405020303" pitchFamily="18" charset="0"/>
              </a:rPr>
              <a:t>: Split input sentences into tokens, where each substring carries relatively complete semantic meaning to facilitate learning meaningful embedding representations. For English, words are naturally separated by spaces and punctuation. You can directly use tokenization tools such as NLTK or statistical </a:t>
            </a:r>
            <a:r>
              <a:rPr kumimoji="1" lang="en-US" altLang="zh-CN" sz="4800" dirty="0" err="1">
                <a:solidFill>
                  <a:schemeClr val="tx1"/>
                </a:solidFill>
                <a:latin typeface="Georgia" panose="02040502050405020303" pitchFamily="18" charset="0"/>
              </a:rPr>
              <a:t>subword</a:t>
            </a:r>
            <a:r>
              <a:rPr kumimoji="1" lang="en-US" altLang="zh-CN" sz="4800" dirty="0">
                <a:solidFill>
                  <a:schemeClr val="tx1"/>
                </a:solidFill>
                <a:latin typeface="Georgia" panose="02040502050405020303" pitchFamily="18" charset="0"/>
              </a:rPr>
              <a:t> segmentation methods like BPE (Byte-Pair Encoding) or </a:t>
            </a:r>
            <a:r>
              <a:rPr kumimoji="1" lang="en-US" altLang="zh-CN" sz="4800" dirty="0" err="1">
                <a:solidFill>
                  <a:schemeClr val="tx1"/>
                </a:solidFill>
                <a:latin typeface="Georgia" panose="02040502050405020303" pitchFamily="18" charset="0"/>
              </a:rPr>
              <a:t>WordPiece</a:t>
            </a:r>
            <a:r>
              <a:rPr kumimoji="1" lang="en-US" altLang="zh-CN" sz="4800" dirty="0">
                <a:solidFill>
                  <a:schemeClr val="tx1"/>
                </a:solidFill>
                <a:latin typeface="Georgia" panose="02040502050405020303" pitchFamily="18" charset="0"/>
              </a:rPr>
              <a:t>;</a:t>
            </a:r>
            <a:r>
              <a:rPr kumimoji="1" lang="zh-CN" altLang="en-US" sz="4800" dirty="0">
                <a:solidFill>
                  <a:schemeClr val="tx1"/>
                </a:solidFill>
                <a:latin typeface="Georgia" panose="02040502050405020303" pitchFamily="18" charset="0"/>
              </a:rPr>
              <a:t> </a:t>
            </a:r>
            <a:r>
              <a:rPr kumimoji="1" lang="en-US" altLang="zh-CN" sz="4800" dirty="0">
                <a:solidFill>
                  <a:schemeClr val="tx1"/>
                </a:solidFill>
                <a:latin typeface="Georgia" panose="02040502050405020303" pitchFamily="18" charset="0"/>
              </a:rPr>
              <a:t>For Chinese, use dedicated word segmentation tools—for example, </a:t>
            </a:r>
            <a:r>
              <a:rPr kumimoji="1" lang="en-US" altLang="zh-CN" sz="4800" dirty="0" err="1">
                <a:solidFill>
                  <a:schemeClr val="tx1"/>
                </a:solidFill>
                <a:latin typeface="Georgia" panose="02040502050405020303" pitchFamily="18" charset="0"/>
              </a:rPr>
              <a:t>Jieba</a:t>
            </a:r>
            <a:r>
              <a:rPr kumimoji="1" lang="en-US" altLang="zh-CN" sz="4800" dirty="0">
                <a:solidFill>
                  <a:schemeClr val="tx1"/>
                </a:solidFill>
                <a:latin typeface="Georgia" panose="02040502050405020303" pitchFamily="18" charset="0"/>
              </a:rPr>
              <a:t> (lightweight) or </a:t>
            </a:r>
            <a:r>
              <a:rPr kumimoji="1" lang="en-US" altLang="zh-CN" sz="4800" dirty="0" err="1">
                <a:solidFill>
                  <a:schemeClr val="tx1"/>
                </a:solidFill>
                <a:latin typeface="Georgia" panose="02040502050405020303" pitchFamily="18" charset="0"/>
              </a:rPr>
              <a:t>HanLP</a:t>
            </a:r>
            <a:r>
              <a:rPr kumimoji="1" lang="en-US" altLang="zh-CN" sz="4800" dirty="0">
                <a:solidFill>
                  <a:schemeClr val="tx1"/>
                </a:solidFill>
                <a:latin typeface="Georgia" panose="02040502050405020303" pitchFamily="18" charset="0"/>
              </a:rPr>
              <a:t> (larger but higher accuracy).</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Vocabulary Construction</a:t>
            </a:r>
            <a:r>
              <a:rPr kumimoji="1" lang="en-US" altLang="zh-CN" sz="4800" dirty="0">
                <a:solidFill>
                  <a:schemeClr val="tx1"/>
                </a:solidFill>
                <a:latin typeface="Georgia" panose="02040502050405020303" pitchFamily="18" charset="0"/>
              </a:rPr>
              <a:t>: Build a statistical vocabulary from the tokenized data. Consider filtering out low-frequency words to prevent the vocabulary from becoming excessively large.</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Word Embedding Initialization</a:t>
            </a:r>
            <a:r>
              <a:rPr kumimoji="1" lang="en-US" altLang="zh-CN" sz="4800" dirty="0">
                <a:solidFill>
                  <a:schemeClr val="tx1"/>
                </a:solidFill>
                <a:latin typeface="Georgia" panose="02040502050405020303" pitchFamily="18" charset="0"/>
              </a:rPr>
              <a:t>: It is recommended to initialize embeddings with pretrained word vectors and allow them to be fine-tuned during training.</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Implementation Flexibility</a:t>
            </a:r>
            <a:r>
              <a:rPr kumimoji="1" lang="en-US" altLang="zh-CN" sz="4800" dirty="0">
                <a:solidFill>
                  <a:schemeClr val="tx1"/>
                </a:solidFill>
                <a:latin typeface="Georgia" panose="02040502050405020303" pitchFamily="18" charset="0"/>
              </a:rPr>
              <a:t>: In addition to the provided baseline implementation (</a:t>
            </a:r>
            <a:r>
              <a:rPr kumimoji="1" lang="en-US" altLang="zh-CN" sz="4800" dirty="0" err="1">
                <a:solidFill>
                  <a:schemeClr val="tx1"/>
                </a:solidFill>
                <a:latin typeface="Georgia" panose="02040502050405020303" pitchFamily="18" charset="0"/>
              </a:rPr>
              <a:t>Jieba</a:t>
            </a:r>
            <a:r>
              <a:rPr kumimoji="1" lang="en-US" altLang="zh-CN" sz="4800" dirty="0">
                <a:solidFill>
                  <a:schemeClr val="tx1"/>
                </a:solidFill>
                <a:latin typeface="Georgia" panose="02040502050405020303" pitchFamily="18" charset="0"/>
              </a:rPr>
              <a:t> for Chinese + space-based tokenization for English), students are encouraged to explore more advanced tokenization strategies.</a:t>
            </a:r>
            <a:endParaRPr kumimoji="1" lang="en-US" altLang="zh-CN" sz="4800" dirty="0">
              <a:solidFill>
                <a:schemeClr val="tx1"/>
              </a:solidFill>
              <a:latin typeface="Georgia" panose="020405020504050203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endPar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Metrics Description</a:t>
            </a:r>
            <a:endParaRPr kumimoji="1" lang="en-US" altLang="zh-CN" sz="8800" dirty="0">
              <a:solidFill>
                <a:schemeClr val="tx1"/>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Metrics</a:t>
            </a:r>
            <a:endParaRPr kumimoji="1" lang="en-US" altLang="zh-CN" sz="7000" dirty="0">
              <a:solidFill>
                <a:srgbClr val="A31F34"/>
              </a:solidFill>
            </a:endParaRP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fld>
            <a:endParaRPr lang="en-US" altLang="zh-CN" spc="-51" dirty="0"/>
          </a:p>
        </p:txBody>
      </p:sp>
      <p:sp>
        <p:nvSpPr>
          <p:cNvPr id="4" name="内容占位符 3"/>
          <p:cNvSpPr>
            <a:spLocks noGrp="1"/>
          </p:cNvSpPr>
          <p:nvPr>
            <p:ph idx="1"/>
          </p:nvPr>
        </p:nvSpPr>
        <p:spPr>
          <a:xfrm>
            <a:off x="1670050" y="2301875"/>
            <a:ext cx="16764000" cy="6705600"/>
          </a:xfrm>
        </p:spPr>
        <p:txBody>
          <a:bodyPr>
            <a:normAutofit/>
          </a:bodyPr>
          <a:lstStyle/>
          <a:p>
            <a:r>
              <a:rPr lang="en-US" altLang="zh-CN" dirty="0"/>
              <a:t>BLEU</a:t>
            </a:r>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89250" y="3539409"/>
            <a:ext cx="14325600" cy="54863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endPar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Submission Requirements</a:t>
            </a:r>
            <a:endParaRPr kumimoji="1" lang="en-US" altLang="zh-CN" sz="8800" dirty="0">
              <a:solidFill>
                <a:schemeClr val="tx1"/>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Submission Requirements</a:t>
            </a:r>
            <a:endParaRPr kumimoji="1" lang="en-US" altLang="zh-CN" sz="7000" dirty="0">
              <a:solidFill>
                <a:srgbClr val="A31F34"/>
              </a:solidFill>
            </a:endParaRP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fld>
            <a:endParaRPr lang="en-US" altLang="zh-CN" spc="-51" dirty="0"/>
          </a:p>
        </p:txBody>
      </p:sp>
      <p:sp>
        <p:nvSpPr>
          <p:cNvPr id="8" name="内容占位符 2"/>
          <p:cNvSpPr txBox="1"/>
          <p:nvPr/>
        </p:nvSpPr>
        <p:spPr>
          <a:xfrm>
            <a:off x="430530" y="2454275"/>
            <a:ext cx="19365595" cy="8410575"/>
          </a:xfrm>
          <a:prstGeom prst="rect">
            <a:avLst/>
          </a:prstGeom>
        </p:spPr>
        <p:txBody>
          <a:bodyPr>
            <a:normAutofit fontScale="700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Source code: </a:t>
            </a:r>
            <a:r>
              <a:rPr kumimoji="1" lang="en-US" altLang="zh-CN" sz="4800" dirty="0">
                <a:solidFill>
                  <a:schemeClr val="tx1"/>
                </a:solidFill>
                <a:latin typeface="Georgia" panose="02040502050405020303" pitchFamily="18" charset="0"/>
              </a:rPr>
              <a:t>You may submit your source code and checkpoints to a GitHub repository and provide a one-click inference script named “inference.py” to facilitate testing with your model.</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Project report: </a:t>
            </a:r>
            <a:r>
              <a:rPr kumimoji="1" lang="en-US" altLang="zh-CN" sz="4800" dirty="0">
                <a:solidFill>
                  <a:schemeClr val="tx1"/>
                </a:solidFill>
                <a:latin typeface="Georgia" panose="02040502050405020303" pitchFamily="18" charset="0"/>
              </a:rPr>
              <a:t>The project report (in PDF format,</a:t>
            </a:r>
            <a:r>
              <a:rPr kumimoji="1" lang="zh-CN" altLang="en-US" sz="4800" dirty="0">
                <a:solidFill>
                  <a:schemeClr val="tx1"/>
                </a:solidFill>
                <a:latin typeface="Georgia" panose="02040502050405020303" pitchFamily="18" charset="0"/>
              </a:rPr>
              <a:t> </a:t>
            </a:r>
            <a:r>
              <a:rPr kumimoji="1" lang="en-US" altLang="zh-CN" sz="4800" dirty="0">
                <a:solidFill>
                  <a:schemeClr val="tx1"/>
                </a:solidFill>
                <a:latin typeface="Georgia" panose="02040502050405020303" pitchFamily="18" charset="0"/>
              </a:rPr>
              <a:t>named “ID_name.pdf”, for example, "250010001_Zhang San.pdf") must include a description of the model architecture, an explanation of the code implementation and completion process, an analysis of experimental results (with the clarification that grading will not be based on the final BLEU score), as well as visualization-based analysis and personal reflections. </a:t>
            </a:r>
            <a:r>
              <a:rPr kumimoji="1" lang="en-US" altLang="zh-CN" sz="4800" dirty="0">
                <a:solidFill>
                  <a:schemeClr val="tx1"/>
                </a:solidFill>
                <a:highlight>
                  <a:srgbClr val="FFFF00"/>
                </a:highlight>
                <a:latin typeface="Georgia" panose="02040502050405020303" pitchFamily="18" charset="0"/>
              </a:rPr>
              <a:t>Please clearly specify the code repository URL in a designated section on the first page of your report.</a:t>
            </a:r>
            <a:endParaRPr kumimoji="1" lang="en-US" altLang="zh-CN" sz="4800" dirty="0">
              <a:solidFill>
                <a:schemeClr val="tx1"/>
              </a:solidFill>
              <a:highlight>
                <a:srgbClr val="FFFF00"/>
              </a:highlight>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rgbClr val="FF0000"/>
                </a:solidFill>
                <a:latin typeface="Georgia" panose="02040502050405020303" pitchFamily="18" charset="0"/>
              </a:rPr>
              <a:t>Final submission: </a:t>
            </a:r>
            <a:r>
              <a:rPr kumimoji="1" lang="en-US" altLang="zh-CN" sz="4800" dirty="0">
                <a:solidFill>
                  <a:schemeClr val="tx1"/>
                </a:solidFill>
                <a:latin typeface="Georgia" panose="02040502050405020303" pitchFamily="18" charset="0"/>
              </a:rPr>
              <a:t>You only need to submit the project report to https://piazza.com platform.</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rgbClr val="FF0000"/>
                </a:solidFill>
                <a:latin typeface="Georgia" panose="02040502050405020303" pitchFamily="18" charset="0"/>
              </a:rPr>
              <a:t>DDL</a:t>
            </a:r>
            <a:r>
              <a:rPr kumimoji="1" lang="en-US" altLang="zh-CN" sz="4800" dirty="0">
                <a:solidFill>
                  <a:srgbClr val="FF0000"/>
                </a:solidFill>
                <a:latin typeface="Georgia" panose="02040502050405020303" pitchFamily="18" charset="0"/>
              </a:rPr>
              <a:t>: December 28th</a:t>
            </a:r>
            <a:endParaRPr kumimoji="1" lang="en-US" altLang="zh-CN" sz="4800" dirty="0">
              <a:solidFill>
                <a:srgbClr val="FF0000"/>
              </a:solidFill>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Presentation</a:t>
            </a:r>
            <a:endParaRPr kumimoji="1" lang="en-US" altLang="zh-CN" sz="7000" dirty="0">
              <a:solidFill>
                <a:srgbClr val="A31F34"/>
              </a:solidFill>
            </a:endParaRP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fld>
            <a:endParaRPr lang="en-US" altLang="zh-CN" spc="-51" dirty="0"/>
          </a:p>
        </p:txBody>
      </p:sp>
      <p:sp>
        <p:nvSpPr>
          <p:cNvPr id="8" name="内容占位符 2"/>
          <p:cNvSpPr txBox="1"/>
          <p:nvPr/>
        </p:nvSpPr>
        <p:spPr>
          <a:xfrm>
            <a:off x="430530" y="2454275"/>
            <a:ext cx="19365595" cy="8410575"/>
          </a:xfrm>
          <a:prstGeom prst="rect">
            <a:avLst/>
          </a:prstGeom>
        </p:spPr>
        <p:txBody>
          <a:bodyPr>
            <a:normAutofit fontScale="92500"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Presentation duration: </a:t>
            </a:r>
            <a:r>
              <a:rPr kumimoji="1" lang="en-US" altLang="zh-CN" sz="4800" dirty="0">
                <a:solidFill>
                  <a:schemeClr val="tx1"/>
                </a:solidFill>
                <a:latin typeface="Georgia" panose="02040502050405020303" pitchFamily="18" charset="0"/>
              </a:rPr>
              <a:t>10 mins presentation &amp; 5 mins QA (15 mins for each group)</a:t>
            </a:r>
            <a:endParaRPr kumimoji="1" lang="en-US" altLang="zh-CN" sz="4800" dirty="0">
              <a:solidFill>
                <a:schemeClr val="tx1"/>
              </a:solidFill>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Group composition: </a:t>
            </a:r>
            <a:r>
              <a:rPr kumimoji="1" lang="en-US" altLang="zh-CN" sz="4800" dirty="0">
                <a:solidFill>
                  <a:schemeClr val="tx1"/>
                </a:solidFill>
                <a:latin typeface="Georgia" panose="02040502050405020303" pitchFamily="18" charset="0"/>
              </a:rPr>
              <a:t>The class will be divided into 18 groups (~7 students each). You may form your own team; otherwise, we will randomly assign teammates for you. </a:t>
            </a:r>
            <a:r>
              <a:rPr kumimoji="1" lang="en-US" altLang="zh-CN" sz="4800" dirty="0">
                <a:solidFill>
                  <a:schemeClr val="tx1"/>
                </a:solidFill>
                <a:highlight>
                  <a:srgbClr val="FFFF00"/>
                </a:highlight>
                <a:latin typeface="Georgia" panose="02040502050405020303" pitchFamily="18" charset="0"/>
              </a:rPr>
              <a:t>Each group will deliver one joint presentation, but every student must submit their own individual project report by the deadline. </a:t>
            </a:r>
            <a:endParaRPr kumimoji="1" lang="en-US" altLang="zh-CN" sz="4800" dirty="0">
              <a:solidFill>
                <a:schemeClr val="tx1"/>
              </a:solidFill>
              <a:highlight>
                <a:srgbClr val="FFFF00"/>
              </a:highlight>
              <a:latin typeface="Georgia" panose="02040502050405020303" pitchFamily="18" charset="0"/>
            </a:endParaRPr>
          </a:p>
          <a:p>
            <a:pPr marL="385445" indent="-685800">
              <a:lnSpc>
                <a:spcPct val="150000"/>
              </a:lnSpc>
              <a:spcAft>
                <a:spcPts val="2400"/>
              </a:spcAft>
              <a:buClr>
                <a:srgbClr val="B20002"/>
              </a:buClr>
              <a:buFont typeface="系统字体常规体"/>
              <a:buChar char="❑"/>
            </a:pPr>
            <a:r>
              <a:rPr kumimoji="1" lang="en-US" altLang="zh-CN" sz="4800" b="1" dirty="0">
                <a:solidFill>
                  <a:srgbClr val="FF0000"/>
                </a:solidFill>
                <a:latin typeface="Georgia" panose="02040502050405020303" pitchFamily="18" charset="0"/>
              </a:rPr>
              <a:t>DDL</a:t>
            </a:r>
            <a:r>
              <a:rPr kumimoji="1" lang="en-US" altLang="zh-CN" sz="4800" dirty="0">
                <a:solidFill>
                  <a:srgbClr val="FF0000"/>
                </a:solidFill>
                <a:latin typeface="Georgia" panose="02040502050405020303" pitchFamily="18" charset="0"/>
              </a:rPr>
              <a:t>: December 28th</a:t>
            </a:r>
            <a:endParaRPr kumimoji="1" lang="en-US" altLang="zh-CN" sz="4800" dirty="0">
              <a:solidFill>
                <a:srgbClr val="FF0000"/>
              </a:solidFill>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endPar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Scoring Criteria</a:t>
            </a:r>
            <a:endParaRPr kumimoji="1" lang="en-US" altLang="zh-CN" sz="8800" dirty="0">
              <a:solidFill>
                <a:schemeClr val="tx1"/>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Scoring Criteria</a:t>
            </a:r>
            <a:endParaRPr kumimoji="1" lang="en-US" altLang="zh-CN" sz="7000" dirty="0">
              <a:solidFill>
                <a:srgbClr val="A31F34"/>
              </a:solidFill>
            </a:endParaRP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fld>
            <a:endParaRPr lang="en-US" altLang="zh-CN" spc="-51" dirty="0"/>
          </a:p>
        </p:txBody>
      </p:sp>
      <p:graphicFrame>
        <p:nvGraphicFramePr>
          <p:cNvPr id="7" name="表格 6"/>
          <p:cNvGraphicFramePr>
            <a:graphicFrameLocks noGrp="1"/>
          </p:cNvGraphicFramePr>
          <p:nvPr/>
        </p:nvGraphicFramePr>
        <p:xfrm>
          <a:off x="1137444" y="2682875"/>
          <a:ext cx="17983200" cy="6949440"/>
        </p:xfrm>
        <a:graphic>
          <a:graphicData uri="http://schemas.openxmlformats.org/drawingml/2006/table">
            <a:tbl>
              <a:tblPr firstRow="1" bandRow="1">
                <a:tableStyleId>{5940675A-B579-460E-94D1-54222C63F5DA}</a:tableStyleId>
              </a:tblPr>
              <a:tblGrid>
                <a:gridCol w="15697200"/>
                <a:gridCol w="2286000"/>
              </a:tblGrid>
              <a:tr h="370840">
                <a:tc>
                  <a:txBody>
                    <a:bodyPr/>
                    <a:lstStyle/>
                    <a:p>
                      <a:pPr algn="l"/>
                      <a:r>
                        <a:rPr lang="en-US" altLang="zh-CN" sz="6000" b="1" dirty="0"/>
                        <a:t>Content</a:t>
                      </a:r>
                      <a:endParaRPr lang="zh-CN" altLang="en-US" sz="6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r>
                        <a:rPr lang="en-US" altLang="zh-CN" sz="6000" b="1" dirty="0"/>
                        <a:t>Score</a:t>
                      </a:r>
                      <a:endParaRPr lang="zh-CN" altLang="en-US" sz="6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r>
              <a:tr h="370840">
                <a:tc>
                  <a:txBody>
                    <a:bodyPr/>
                    <a:lstStyle/>
                    <a:p>
                      <a:pPr>
                        <a:spcAft>
                          <a:spcPts val="600"/>
                        </a:spcAft>
                      </a:pPr>
                      <a:r>
                        <a:rPr lang="en-US" altLang="zh-CN" sz="6000" dirty="0"/>
                        <a:t>RNN-based NMT Implementation &amp; Experiments</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6000" dirty="0"/>
                        <a:t>15%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r>
              <a:tr h="370840">
                <a:tc>
                  <a:txBody>
                    <a:bodyPr/>
                    <a:lstStyle/>
                    <a:p>
                      <a:pPr>
                        <a:spcAft>
                          <a:spcPts val="600"/>
                        </a:spcAft>
                      </a:pPr>
                      <a:r>
                        <a:rPr lang="en-US" altLang="zh-CN" sz="6000" dirty="0"/>
                        <a:t>Transformer-based NMT Implementation &amp; Experiments</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6000" dirty="0"/>
                        <a:t>25%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370840">
                <a:tc>
                  <a:txBody>
                    <a:bodyPr/>
                    <a:lstStyle/>
                    <a:p>
                      <a:pPr>
                        <a:spcAft>
                          <a:spcPts val="600"/>
                        </a:spcAft>
                      </a:pPr>
                      <a:r>
                        <a:rPr lang="en-US" altLang="zh-CN" sz="6000" dirty="0"/>
                        <a:t>Comparative Analysis &amp; Discussion</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6000" dirty="0"/>
                        <a:t>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370840">
                <a:tc>
                  <a:txBody>
                    <a:bodyPr/>
                    <a:lstStyle/>
                    <a:p>
                      <a:pPr>
                        <a:spcAft>
                          <a:spcPts val="600"/>
                        </a:spcAft>
                      </a:pPr>
                      <a:r>
                        <a:rPr lang="en-US" altLang="zh-CN" sz="6000" dirty="0"/>
                        <a:t>Project Report</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tcPr>
                </a:tc>
                <a:tc>
                  <a:txBody>
                    <a:bodyPr/>
                    <a:lstStyle/>
                    <a:p>
                      <a:r>
                        <a:rPr lang="en-US" altLang="zh-CN" sz="6000" dirty="0"/>
                        <a:t>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tcPr>
                </a:tc>
              </a:tr>
              <a:tr h="370840">
                <a:tc>
                  <a:txBody>
                    <a:bodyPr/>
                    <a:lstStyle/>
                    <a:p>
                      <a:pPr>
                        <a:spcAft>
                          <a:spcPts val="600"/>
                        </a:spcAft>
                      </a:pPr>
                      <a:r>
                        <a:rPr lang="en-US" altLang="zh-CN" sz="6000" dirty="0"/>
                        <a:t>Presentation</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r>
                        <a:rPr lang="en-US" altLang="zh-CN" sz="6000" dirty="0"/>
                        <a:t>50%</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endPar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endPar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Reference</a:t>
            </a:r>
            <a:endParaRPr kumimoji="1" lang="en-US" altLang="en-GB" sz="8800" b="0" i="0" u="none" strike="noStrike" kern="0" cap="none" spc="0" normalizeH="0" baseline="0" noProof="1">
              <a:solidFill>
                <a:schemeClr val="tx1"/>
              </a:solidFill>
              <a:latin typeface="Georgia" panose="02040502050405020303" pitchFamily="18" charset="0"/>
              <a:ea typeface="+mn-ea"/>
              <a:cs typeface="Times New Roman" panose="02020603050405020304" pitchFamily="18" charset="0"/>
            </a:endParaRPr>
          </a:p>
        </p:txBody>
      </p:sp>
      <p:sp>
        <p:nvSpPr>
          <p:cNvPr id="5" name="Title 1"/>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Reference</a:t>
            </a:r>
            <a:endParaRPr kumimoji="1" lang="en-US" altLang="zh-CN" sz="7000" dirty="0">
              <a:solidFill>
                <a:srgbClr val="A31F34"/>
              </a:solidFill>
            </a:endParaRP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fld>
            <a:endParaRPr lang="en-US" altLang="zh-CN" spc="-51" dirty="0"/>
          </a:p>
        </p:txBody>
      </p:sp>
      <p:sp>
        <p:nvSpPr>
          <p:cNvPr id="5" name="内容占位符 2"/>
          <p:cNvSpPr txBox="1"/>
          <p:nvPr/>
        </p:nvSpPr>
        <p:spPr>
          <a:xfrm>
            <a:off x="430530" y="2454275"/>
            <a:ext cx="19365595" cy="8410575"/>
          </a:xfrm>
          <a:prstGeom prst="rect">
            <a:avLst/>
          </a:prstGeom>
        </p:spPr>
        <p:txBody>
          <a:bodyPr>
            <a:normAutofit fontScale="625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600"/>
              </a:spcAft>
              <a:buClr>
                <a:srgbClr val="B20002"/>
              </a:buClr>
              <a:buFont typeface="系统字体常规体"/>
              <a:buChar char="❑"/>
            </a:pPr>
            <a:r>
              <a:rPr kumimoji="1" lang="en-US" altLang="zh-CN" sz="4800" dirty="0">
                <a:solidFill>
                  <a:schemeClr val="tx1"/>
                </a:solidFill>
                <a:latin typeface="Georgia" panose="02040502050405020303" pitchFamily="18" charset="0"/>
                <a:cs typeface="Times New Roman" panose="02020603050405020304" pitchFamily="18" charset="0"/>
              </a:rPr>
              <a:t>Seq2Seq Machine Translation Tutorial: </a:t>
            </a:r>
            <a:r>
              <a:rPr kumimoji="1" lang="en-US" altLang="zh-CN" sz="4800" dirty="0">
                <a:solidFill>
                  <a:schemeClr val="tx1"/>
                </a:solidFill>
                <a:latin typeface="Georgia" panose="02040502050405020303" pitchFamily="18" charset="0"/>
                <a:cs typeface="Times New Roman" panose="02020603050405020304" pitchFamily="18" charset="0"/>
                <a:hlinkClick r:id="rId1"/>
              </a:rPr>
              <a:t>https://docs.pytorch.org/tutorials/intermediate/seq2seq_translation_tutorial.html</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385445" indent="-685800">
              <a:lnSpc>
                <a:spcPct val="150000"/>
              </a:lnSpc>
              <a:spcAft>
                <a:spcPts val="600"/>
              </a:spcAft>
              <a:buClr>
                <a:srgbClr val="B20002"/>
              </a:buClr>
              <a:buFont typeface="系统字体常规体"/>
              <a:buChar char="❑"/>
            </a:pPr>
            <a:r>
              <a:rPr kumimoji="1" lang="en-US" altLang="zh-CN" sz="4800" dirty="0">
                <a:solidFill>
                  <a:schemeClr val="tx1"/>
                </a:solidFill>
                <a:latin typeface="Georgia" panose="02040502050405020303" pitchFamily="18" charset="0"/>
                <a:cs typeface="Times New Roman" panose="02020603050405020304" pitchFamily="18" charset="0"/>
              </a:rPr>
              <a:t>Tokenization Tools: </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1371600" lvl="1" indent="457200">
              <a:lnSpc>
                <a:spcPct val="150000"/>
              </a:lnSpc>
              <a:spcAft>
                <a:spcPts val="600"/>
              </a:spcAft>
              <a:buClr>
                <a:srgbClr val="B20002"/>
              </a:buClr>
              <a:buFont typeface="+mj-lt"/>
              <a:buAutoNum type="arabicPeriod"/>
            </a:pPr>
            <a:r>
              <a:rPr kumimoji="1" lang="en-US" altLang="zh-CN" sz="4800" dirty="0" err="1">
                <a:solidFill>
                  <a:schemeClr val="tx1"/>
                </a:solidFill>
                <a:latin typeface="Georgia" panose="02040502050405020303" pitchFamily="18" charset="0"/>
                <a:cs typeface="Times New Roman" panose="02020603050405020304" pitchFamily="18" charset="0"/>
              </a:rPr>
              <a:t>Jieba</a:t>
            </a:r>
            <a:r>
              <a:rPr kumimoji="1" lang="en-US" altLang="zh-CN" sz="4800" dirty="0">
                <a:solidFill>
                  <a:schemeClr val="tx1"/>
                </a:solidFill>
                <a:latin typeface="Georgia" panose="02040502050405020303" pitchFamily="18" charset="0"/>
                <a:cs typeface="Times New Roman" panose="02020603050405020304" pitchFamily="18" charset="0"/>
              </a:rPr>
              <a:t> (Chinese word segmentation tool): </a:t>
            </a:r>
            <a:r>
              <a:rPr kumimoji="1" lang="en-US" altLang="zh-CN" sz="4800" dirty="0">
                <a:solidFill>
                  <a:schemeClr val="tx1"/>
                </a:solidFill>
                <a:latin typeface="Georgia" panose="02040502050405020303" pitchFamily="18" charset="0"/>
                <a:cs typeface="Times New Roman" panose="02020603050405020304" pitchFamily="18" charset="0"/>
                <a:hlinkClick r:id="rId2"/>
              </a:rPr>
              <a:t>https://github.com/fxsjy/jieba</a:t>
            </a:r>
            <a:r>
              <a:rPr kumimoji="1" lang="en-US" altLang="zh-CN" sz="4800" dirty="0">
                <a:solidFill>
                  <a:schemeClr val="tx1"/>
                </a:solidFill>
                <a:latin typeface="Georgia" panose="02040502050405020303" pitchFamily="18" charset="0"/>
                <a:cs typeface="Times New Roman" panose="02020603050405020304" pitchFamily="18" charset="0"/>
              </a:rPr>
              <a:t>;</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1371600" lvl="1" indent="457200">
              <a:lnSpc>
                <a:spcPct val="150000"/>
              </a:lnSpc>
              <a:spcAft>
                <a:spcPts val="600"/>
              </a:spcAft>
              <a:buClr>
                <a:srgbClr val="B20002"/>
              </a:buClr>
              <a:buFont typeface="+mj-lt"/>
              <a:buAutoNum type="arabicPeriod"/>
            </a:pPr>
            <a:r>
              <a:rPr kumimoji="1" lang="en-US" altLang="zh-CN" sz="4800" dirty="0" err="1">
                <a:solidFill>
                  <a:schemeClr val="tx1"/>
                </a:solidFill>
                <a:latin typeface="Georgia" panose="02040502050405020303" pitchFamily="18" charset="0"/>
                <a:cs typeface="Times New Roman" panose="02020603050405020304" pitchFamily="18" charset="0"/>
              </a:rPr>
              <a:t>SentencePiece</a:t>
            </a:r>
            <a:r>
              <a:rPr kumimoji="1" lang="en-US" altLang="zh-CN" sz="4800" dirty="0">
                <a:solidFill>
                  <a:schemeClr val="tx1"/>
                </a:solidFill>
                <a:latin typeface="Georgia" panose="02040502050405020303" pitchFamily="18" charset="0"/>
                <a:cs typeface="Times New Roman" panose="02020603050405020304" pitchFamily="18" charset="0"/>
              </a:rPr>
              <a:t> (English and multilingual </a:t>
            </a:r>
            <a:r>
              <a:rPr kumimoji="1" lang="en-US" altLang="zh-CN" sz="4800" dirty="0" err="1">
                <a:solidFill>
                  <a:schemeClr val="tx1"/>
                </a:solidFill>
                <a:latin typeface="Georgia" panose="02040502050405020303" pitchFamily="18" charset="0"/>
                <a:cs typeface="Times New Roman" panose="02020603050405020304" pitchFamily="18" charset="0"/>
              </a:rPr>
              <a:t>subword</a:t>
            </a:r>
            <a:r>
              <a:rPr kumimoji="1" lang="en-US" altLang="zh-CN" sz="4800" dirty="0">
                <a:solidFill>
                  <a:schemeClr val="tx1"/>
                </a:solidFill>
                <a:latin typeface="Georgia" panose="02040502050405020303" pitchFamily="18" charset="0"/>
                <a:cs typeface="Times New Roman" panose="02020603050405020304" pitchFamily="18" charset="0"/>
              </a:rPr>
              <a:t> tokenization tool): https://github.com/google/sentencepiece</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385445" indent="-685800">
              <a:lnSpc>
                <a:spcPct val="150000"/>
              </a:lnSpc>
              <a:spcAft>
                <a:spcPts val="600"/>
              </a:spcAft>
              <a:buClr>
                <a:srgbClr val="B20002"/>
              </a:buClr>
              <a:buFont typeface="系统字体常规体"/>
              <a:buChar char="❑"/>
            </a:pPr>
            <a:r>
              <a:rPr kumimoji="1" lang="en-US" altLang="zh-CN" sz="4800" dirty="0">
                <a:solidFill>
                  <a:schemeClr val="tx1"/>
                </a:solidFill>
                <a:latin typeface="Georgia" panose="02040502050405020303" pitchFamily="18" charset="0"/>
                <a:cs typeface="Times New Roman" panose="02020603050405020304" pitchFamily="18" charset="0"/>
              </a:rPr>
              <a:t>Papers</a:t>
            </a:r>
            <a:r>
              <a:rPr kumimoji="1" lang="zh-CN" altLang="en-US" sz="4800" dirty="0">
                <a:solidFill>
                  <a:schemeClr val="tx1"/>
                </a:solidFill>
                <a:latin typeface="Georgia" panose="02040502050405020303" pitchFamily="18" charset="0"/>
                <a:cs typeface="Times New Roman" panose="02020603050405020304" pitchFamily="18" charset="0"/>
              </a:rPr>
              <a:t>：</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1371600" lvl="1" indent="457200">
              <a:lnSpc>
                <a:spcPct val="150000"/>
              </a:lnSpc>
              <a:spcAft>
                <a:spcPts val="600"/>
              </a:spcAft>
              <a:buClr>
                <a:srgbClr val="B20002"/>
              </a:buClr>
              <a:buFont typeface="+mj-lt"/>
              <a:buAutoNum type="arabicPeriod"/>
            </a:pPr>
            <a:r>
              <a:rPr kumimoji="1" lang="en-US" altLang="zh-CN" sz="4700" dirty="0">
                <a:solidFill>
                  <a:schemeClr val="tx1"/>
                </a:solidFill>
                <a:latin typeface="Georgia" panose="02040502050405020303" pitchFamily="18" charset="0"/>
                <a:cs typeface="Times New Roman" panose="02020603050405020304" pitchFamily="18" charset="0"/>
              </a:rPr>
              <a:t>Attention is All You Need (Vaswani et al., 2017)</a:t>
            </a:r>
            <a:endParaRPr kumimoji="1" lang="en-US" altLang="zh-CN" sz="4700" dirty="0">
              <a:solidFill>
                <a:schemeClr val="tx1"/>
              </a:solidFill>
              <a:latin typeface="Georgia" panose="02040502050405020303" pitchFamily="18" charset="0"/>
              <a:cs typeface="Times New Roman" panose="02020603050405020304" pitchFamily="18" charset="0"/>
            </a:endParaRPr>
          </a:p>
          <a:p>
            <a:pPr marL="1371600" lvl="1" indent="457200">
              <a:lnSpc>
                <a:spcPct val="150000"/>
              </a:lnSpc>
              <a:spcAft>
                <a:spcPts val="600"/>
              </a:spcAft>
              <a:buClr>
                <a:srgbClr val="B20002"/>
              </a:buClr>
              <a:buFont typeface="+mj-lt"/>
              <a:buAutoNum type="arabicPeriod"/>
            </a:pPr>
            <a:r>
              <a:rPr kumimoji="1" lang="en-US" altLang="zh-CN" sz="4700" dirty="0">
                <a:solidFill>
                  <a:schemeClr val="tx1"/>
                </a:solidFill>
                <a:latin typeface="Georgia" panose="02040502050405020303" pitchFamily="18" charset="0"/>
                <a:cs typeface="Times New Roman" panose="02020603050405020304" pitchFamily="18" charset="0"/>
              </a:rPr>
              <a:t>Neural Machine Translation by Jointly Learning to Align and Translate (</a:t>
            </a:r>
            <a:r>
              <a:rPr lang="en-US" altLang="zh-CN" sz="4800" b="0" i="0" dirty="0">
                <a:effectLst/>
                <a:latin typeface="Lucida Grande"/>
              </a:rPr>
              <a:t>Dzmitry</a:t>
            </a:r>
            <a:r>
              <a:rPr kumimoji="1" lang="en-US" altLang="zh-CN" sz="4700" dirty="0">
                <a:solidFill>
                  <a:schemeClr val="tx1"/>
                </a:solidFill>
                <a:latin typeface="Georgia" panose="02040502050405020303" pitchFamily="18" charset="0"/>
                <a:cs typeface="Times New Roman" panose="02020603050405020304" pitchFamily="18" charset="0"/>
              </a:rPr>
              <a:t> et al., 2015)</a:t>
            </a:r>
            <a:endParaRPr kumimoji="1" lang="en-US" altLang="zh-CN" sz="4700" dirty="0">
              <a:solidFill>
                <a:schemeClr val="tx1"/>
              </a:solidFill>
              <a:latin typeface="Georgia" panose="02040502050405020303" pitchFamily="18" charset="0"/>
              <a:cs typeface="Times New Roman" panose="02020603050405020304" pitchFamily="18" charset="0"/>
            </a:endParaRPr>
          </a:p>
          <a:p>
            <a:pPr marL="1371600" lvl="1" indent="457200">
              <a:lnSpc>
                <a:spcPct val="150000"/>
              </a:lnSpc>
              <a:spcAft>
                <a:spcPts val="600"/>
              </a:spcAft>
              <a:buClr>
                <a:srgbClr val="B20002"/>
              </a:buClr>
              <a:buFont typeface="+mj-lt"/>
              <a:buAutoNum type="arabicPeriod"/>
            </a:pPr>
            <a:r>
              <a:rPr kumimoji="1" lang="en-US" altLang="zh-CN" sz="4700" dirty="0">
                <a:solidFill>
                  <a:schemeClr val="tx1"/>
                </a:solidFill>
                <a:latin typeface="Georgia" panose="02040502050405020303" pitchFamily="18" charset="0"/>
                <a:cs typeface="Times New Roman" panose="02020603050405020304" pitchFamily="18" charset="0"/>
              </a:rPr>
              <a:t>Exploring the Limits of Transfer Learning with a Unified Text-to-Text Transformer (</a:t>
            </a:r>
            <a:r>
              <a:rPr lang="en-US" altLang="zh-CN" sz="4800" b="0" i="0" dirty="0">
                <a:effectLst/>
                <a:latin typeface="Lucida Grande"/>
              </a:rPr>
              <a:t>Colin</a:t>
            </a:r>
            <a:r>
              <a:rPr kumimoji="1" lang="en-US" altLang="zh-CN" sz="4700" dirty="0">
                <a:solidFill>
                  <a:schemeClr val="tx1"/>
                </a:solidFill>
                <a:latin typeface="Georgia" panose="02040502050405020303" pitchFamily="18" charset="0"/>
                <a:cs typeface="Times New Roman" panose="02020603050405020304" pitchFamily="18" charset="0"/>
              </a:rPr>
              <a:t> et al., 2020)</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385445" indent="-685800">
              <a:lnSpc>
                <a:spcPct val="150000"/>
              </a:lnSpc>
              <a:spcAft>
                <a:spcPts val="600"/>
              </a:spcAft>
              <a:buClr>
                <a:srgbClr val="B20002"/>
              </a:buClr>
              <a:buFont typeface="系统字体常规体"/>
              <a:buChar char="❑"/>
            </a:pPr>
            <a:r>
              <a:rPr lang="en-US" altLang="zh-CN" sz="4800" dirty="0">
                <a:solidFill>
                  <a:schemeClr val="tx1"/>
                </a:solidFill>
                <a:latin typeface="Georgia" panose="02040502050405020303" pitchFamily="18" charset="0"/>
                <a:cs typeface="Times New Roman" panose="02020603050405020304" pitchFamily="18" charset="0"/>
              </a:rPr>
              <a:t>Pretrained Language Model Weight: https://huggingface.co/google-t5/t5-base/tree/main</a:t>
            </a:r>
            <a:endParaRPr lang="en-US" altLang="zh-CN" sz="4800" dirty="0">
              <a:solidFill>
                <a:schemeClr val="tx1"/>
              </a:solidFill>
              <a:latin typeface="Georgia" panose="02040502050405020303"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kumimoji="1"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6938</Words>
  <Application>WPS 演示</Application>
  <PresentationFormat>自定义</PresentationFormat>
  <Paragraphs>173</Paragraphs>
  <Slides>18</Slides>
  <Notes>15</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18</vt:i4>
      </vt:variant>
    </vt:vector>
  </HeadingPairs>
  <TitlesOfParts>
    <vt:vector size="35" baseType="lpstr">
      <vt:lpstr>Arial</vt:lpstr>
      <vt:lpstr>宋体</vt:lpstr>
      <vt:lpstr>Wingdings</vt:lpstr>
      <vt:lpstr>Arial</vt:lpstr>
      <vt:lpstr>Georgia</vt:lpstr>
      <vt:lpstr>Times New Roman</vt:lpstr>
      <vt:lpstr>微软雅黑</vt:lpstr>
      <vt:lpstr>楷体</vt:lpstr>
      <vt:lpstr>Century</vt:lpstr>
      <vt:lpstr>Georgia Bold</vt:lpstr>
      <vt:lpstr>等线</vt:lpstr>
      <vt:lpstr>Wingdings</vt:lpstr>
      <vt:lpstr>系统字体常规体</vt:lpstr>
      <vt:lpstr>Segoe Print</vt:lpstr>
      <vt:lpstr>Lucida Grande</vt:lpstr>
      <vt:lpstr>Arial Unicode MS</vt:lpstr>
      <vt:lpstr>Office Theme</vt:lpstr>
      <vt:lpstr>PowerPoint 演示文稿</vt:lpstr>
      <vt:lpstr>PowerPoint 演示文稿</vt:lpstr>
      <vt:lpstr>Outline</vt:lpstr>
      <vt:lpstr>Assignment Requirements</vt:lpstr>
      <vt:lpstr>Assignment Requirements</vt:lpstr>
      <vt:lpstr>Assignment Requirements</vt:lpstr>
      <vt:lpstr>Outline</vt:lpstr>
      <vt:lpstr>Datasets Introduction</vt:lpstr>
      <vt:lpstr>Datasets Preprocessing</vt:lpstr>
      <vt:lpstr>Outline</vt:lpstr>
      <vt:lpstr>Metrics</vt:lpstr>
      <vt:lpstr>Outline</vt:lpstr>
      <vt:lpstr>Submission Requirements</vt:lpstr>
      <vt:lpstr>Presentation</vt:lpstr>
      <vt:lpstr>Outline</vt:lpstr>
      <vt:lpstr>Scoring Criteria</vt:lpstr>
      <vt:lpstr>Outline</vt:lpstr>
      <vt:lpstr>Reference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Lec01-Introduction</dc:title>
  <dc:creator>Leilei Zhao</dc:creator>
  <cp:lastModifiedBy>兀特皋</cp:lastModifiedBy>
  <cp:revision>1346</cp:revision>
  <dcterms:created xsi:type="dcterms:W3CDTF">2025-09-08T21:11:00Z</dcterms:created>
  <dcterms:modified xsi:type="dcterms:W3CDTF">2025-12-24T12:08:19Z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2024-09-08T00:00:00Z</vt:filetime>
  </property>
  <property fmtid="{D5CDD505-2E9C-101B-9397-08002B2CF9AE}" pid="3" name="Creator">
    <vt:lpwstr>Keynote</vt:lpwstr>
  </property>
  <property fmtid="{D5CDD505-2E9C-101B-9397-08002B2CF9AE}" pid="4" name="LastSaved">
    <vt:filetime>2025-02-08T00:00:00Z</vt:filetime>
  </property>
  <property fmtid="{D5CDD505-2E9C-101B-9397-08002B2CF9AE}" pid="5" name="Producer">
    <vt:lpwstr>3-Heights(TM) PDF Security Shell 4.8.25.2 (http://www.pdf-tools.com)</vt:lpwstr>
  </property>
  <property fmtid="{D5CDD505-2E9C-101B-9397-08002B2CF9AE}" pid="6" name="ICV">
    <vt:lpwstr>921E1B1839884960B99315654BBABC65_13</vt:lpwstr>
  </property>
  <property fmtid="{D5CDD505-2E9C-101B-9397-08002B2CF9AE}" pid="7" name="KSOProductBuildVer">
    <vt:lpwstr>2052-12.1.0.24034</vt:lpwstr>
  </property>
</Properties>
</file>